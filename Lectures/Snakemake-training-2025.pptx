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71"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09"/>
    <p:restoredTop sz="94658"/>
  </p:normalViewPr>
  <p:slideViewPr>
    <p:cSldViewPr snapToGrid="0">
      <p:cViewPr varScale="1">
        <p:scale>
          <a:sx n="101" d="100"/>
          <a:sy n="101" d="100"/>
        </p:scale>
        <p:origin x="1360" y="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86B1AF-B28E-A04D-8142-B9CFB820098A}" type="datetimeFigureOut">
              <a:rPr lang="en-GB" smtClean="0"/>
              <a:t>25/05/2026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CC9B21-E080-B741-94A0-E8D3E7899E58}" type="slidenum">
              <a:rPr lang="en-GB" smtClean="0"/>
              <a:t>‹#›</a:t>
            </a:fld>
            <a:endParaRPr lang="en-GB"/>
          </a:p>
        </p:txBody>
      </p:sp>
    </p:spTree>
    <p:extLst>
      <p:ext uri="{BB962C8B-B14F-4D97-AF65-F5344CB8AC3E}">
        <p14:creationId xmlns:p14="http://schemas.microsoft.com/office/powerpoint/2010/main" val="3343242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Image source: Microsoft 365 content library
Snakemake is a workflow management system designed for reproducible data analysis. It uses a Python-based language to define rules and dependencies, making pipeline creation straightforward. The tool automates complex processes, ensures scalability across platforms, and helps researchers organise, track, and share their computational workflows efficiently.</a:t>
            </a:r>
          </a:p>
        </p:txBody>
      </p:sp>
      <p:sp>
        <p:nvSpPr>
          <p:cNvPr id="4" name="Slide Number Placeholder 3"/>
          <p:cNvSpPr>
            <a:spLocks noGrp="1"/>
          </p:cNvSpPr>
          <p:nvPr>
            <p:ph type="sldNum" sz="quarter" idx="5"/>
          </p:nvPr>
        </p:nvSpPr>
        <p:spPr/>
        <p:txBody>
          <a:bodyPr/>
          <a:lstStyle/>
          <a:p>
            <a:fld id="{319705E0-B94D-B44A-A8FB-BF4F33FFC376}" type="slidenum">
              <a:rPr lang="en-GB" smtClean="0"/>
              <a:t>2</a:t>
            </a:fld>
            <a:endParaRPr lang="en-GB"/>
          </a:p>
        </p:txBody>
      </p:sp>
    </p:spTree>
    <p:extLst>
      <p:ext uri="{BB962C8B-B14F-4D97-AF65-F5344CB8AC3E}">
        <p14:creationId xmlns:p14="http://schemas.microsoft.com/office/powerpoint/2010/main" val="2256145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5C822-08EB-32C8-08A1-292BC5B0DD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9BB747-CE66-0521-4BA4-78681FAF2B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E5A6AD-FF2A-3D84-9602-2BED0D354411}"/>
              </a:ext>
            </a:extLst>
          </p:cNvPr>
          <p:cNvSpPr>
            <a:spLocks noGrp="1"/>
          </p:cNvSpPr>
          <p:nvPr>
            <p:ph type="body" idx="1"/>
          </p:nvPr>
        </p:nvSpPr>
        <p:spPr/>
        <p:txBody>
          <a:bodyPr/>
          <a:lstStyle/>
          <a:p>
            <a:r>
              <a:rPr lang="en-GB"/>
              <a:t>Image source: Microsoft 365 content library
Snakemake is a workflow management system designed for reproducible data analysis. It uses a Python-based language to define rules and dependencies, making pipeline creation straightforward. The tool automates complex processes, ensures scalability across platforms, and helps researchers organise, track, and share their computational workflows efficiently.</a:t>
            </a:r>
          </a:p>
        </p:txBody>
      </p:sp>
      <p:sp>
        <p:nvSpPr>
          <p:cNvPr id="4" name="Slide Number Placeholder 3">
            <a:extLst>
              <a:ext uri="{FF2B5EF4-FFF2-40B4-BE49-F238E27FC236}">
                <a16:creationId xmlns:a16="http://schemas.microsoft.com/office/drawing/2014/main" id="{C45F6C9D-005E-39FE-9439-E72B79C5C938}"/>
              </a:ext>
            </a:extLst>
          </p:cNvPr>
          <p:cNvSpPr>
            <a:spLocks noGrp="1"/>
          </p:cNvSpPr>
          <p:nvPr>
            <p:ph type="sldNum" sz="quarter" idx="5"/>
          </p:nvPr>
        </p:nvSpPr>
        <p:spPr/>
        <p:txBody>
          <a:bodyPr/>
          <a:lstStyle/>
          <a:p>
            <a:fld id="{319705E0-B94D-B44A-A8FB-BF4F33FFC376}" type="slidenum">
              <a:rPr lang="en-GB" smtClean="0"/>
              <a:t>3</a:t>
            </a:fld>
            <a:endParaRPr lang="en-GB"/>
          </a:p>
        </p:txBody>
      </p:sp>
    </p:spTree>
    <p:extLst>
      <p:ext uri="{BB962C8B-B14F-4D97-AF65-F5344CB8AC3E}">
        <p14:creationId xmlns:p14="http://schemas.microsoft.com/office/powerpoint/2010/main" val="14879907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0BCE0-E542-E474-71BF-BC502DA0A8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78D955-F501-E04A-A818-EE5FE06C24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B26BCA-0C03-727F-CF6A-8F3BA769914B}"/>
              </a:ext>
            </a:extLst>
          </p:cNvPr>
          <p:cNvSpPr>
            <a:spLocks noGrp="1"/>
          </p:cNvSpPr>
          <p:nvPr>
            <p:ph type="body" idx="1"/>
          </p:nvPr>
        </p:nvSpPr>
        <p:spPr/>
        <p:txBody>
          <a:bodyPr/>
          <a:lstStyle/>
          <a:p>
            <a:r>
              <a:rPr lang="en-GB"/>
              <a:t>Image source: Microsoft 365 content library
Snakemake is a workflow management system designed for reproducible data analysis. It uses a Python-based language to define rules and dependencies, making pipeline creation straightforward. The tool automates complex processes, ensures scalability across platforms, and helps researchers organise, track, and share their computational workflows efficiently.</a:t>
            </a:r>
          </a:p>
        </p:txBody>
      </p:sp>
      <p:sp>
        <p:nvSpPr>
          <p:cNvPr id="4" name="Slide Number Placeholder 3">
            <a:extLst>
              <a:ext uri="{FF2B5EF4-FFF2-40B4-BE49-F238E27FC236}">
                <a16:creationId xmlns:a16="http://schemas.microsoft.com/office/drawing/2014/main" id="{A2A6092D-A976-5BD2-F7D6-408C4154EBB9}"/>
              </a:ext>
            </a:extLst>
          </p:cNvPr>
          <p:cNvSpPr>
            <a:spLocks noGrp="1"/>
          </p:cNvSpPr>
          <p:nvPr>
            <p:ph type="sldNum" sz="quarter" idx="5"/>
          </p:nvPr>
        </p:nvSpPr>
        <p:spPr/>
        <p:txBody>
          <a:bodyPr/>
          <a:lstStyle/>
          <a:p>
            <a:fld id="{319705E0-B94D-B44A-A8FB-BF4F33FFC376}" type="slidenum">
              <a:rPr lang="en-GB" smtClean="0"/>
              <a:t>4</a:t>
            </a:fld>
            <a:endParaRPr lang="en-GB"/>
          </a:p>
        </p:txBody>
      </p:sp>
    </p:spTree>
    <p:extLst>
      <p:ext uri="{BB962C8B-B14F-4D97-AF65-F5344CB8AC3E}">
        <p14:creationId xmlns:p14="http://schemas.microsoft.com/office/powerpoint/2010/main" val="3437502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DC9D2-3614-DEC1-4ABE-6C4E25BB84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514869-D789-2F09-48EE-15D4439119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02A092-BA7C-02E3-A312-3D5EC40C1A13}"/>
              </a:ext>
            </a:extLst>
          </p:cNvPr>
          <p:cNvSpPr>
            <a:spLocks noGrp="1"/>
          </p:cNvSpPr>
          <p:nvPr>
            <p:ph type="body" idx="1"/>
          </p:nvPr>
        </p:nvSpPr>
        <p:spPr/>
        <p:txBody>
          <a:bodyPr/>
          <a:lstStyle/>
          <a:p>
            <a:r>
              <a:rPr lang="en-GB"/>
              <a:t>Image source: Microsoft 365 content library
Snakemake is a workflow management system designed for reproducible data analysis. It uses a Python-based language to define rules and dependencies, making pipeline creation straightforward. The tool automates complex processes, ensures scalability across platforms, and helps researchers organise, track, and share their computational workflows efficiently.</a:t>
            </a:r>
          </a:p>
        </p:txBody>
      </p:sp>
      <p:sp>
        <p:nvSpPr>
          <p:cNvPr id="4" name="Slide Number Placeholder 3">
            <a:extLst>
              <a:ext uri="{FF2B5EF4-FFF2-40B4-BE49-F238E27FC236}">
                <a16:creationId xmlns:a16="http://schemas.microsoft.com/office/drawing/2014/main" id="{84AC454A-2B21-2F45-2051-95A1FD63B46E}"/>
              </a:ext>
            </a:extLst>
          </p:cNvPr>
          <p:cNvSpPr>
            <a:spLocks noGrp="1"/>
          </p:cNvSpPr>
          <p:nvPr>
            <p:ph type="sldNum" sz="quarter" idx="5"/>
          </p:nvPr>
        </p:nvSpPr>
        <p:spPr/>
        <p:txBody>
          <a:bodyPr/>
          <a:lstStyle/>
          <a:p>
            <a:fld id="{319705E0-B94D-B44A-A8FB-BF4F33FFC376}" type="slidenum">
              <a:rPr lang="en-GB" smtClean="0"/>
              <a:t>5</a:t>
            </a:fld>
            <a:endParaRPr lang="en-GB"/>
          </a:p>
        </p:txBody>
      </p:sp>
    </p:spTree>
    <p:extLst>
      <p:ext uri="{BB962C8B-B14F-4D97-AF65-F5344CB8AC3E}">
        <p14:creationId xmlns:p14="http://schemas.microsoft.com/office/powerpoint/2010/main" val="1994084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C0D49-D5C6-E7EC-333B-FFD96DAE7A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BEADB-4E5F-2EB3-28C8-BD3A63BDF5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D78D5E-A2EB-8B2C-29A8-11A2DAD3A33B}"/>
              </a:ext>
            </a:extLst>
          </p:cNvPr>
          <p:cNvSpPr>
            <a:spLocks noGrp="1"/>
          </p:cNvSpPr>
          <p:nvPr>
            <p:ph type="body" idx="1"/>
          </p:nvPr>
        </p:nvSpPr>
        <p:spPr/>
        <p:txBody>
          <a:bodyPr/>
          <a:lstStyle/>
          <a:p>
            <a:r>
              <a:rPr lang="en-GB"/>
              <a:t>Image source: Microsoft 365 content library
Snakemake is a workflow management system designed for reproducible data analysis. It uses a Python-based language to define rules and dependencies, making pipeline creation straightforward. The tool automates complex processes, ensures scalability across platforms, and helps researchers organise, track, and share their computational workflows efficiently.</a:t>
            </a:r>
          </a:p>
        </p:txBody>
      </p:sp>
      <p:sp>
        <p:nvSpPr>
          <p:cNvPr id="4" name="Slide Number Placeholder 3">
            <a:extLst>
              <a:ext uri="{FF2B5EF4-FFF2-40B4-BE49-F238E27FC236}">
                <a16:creationId xmlns:a16="http://schemas.microsoft.com/office/drawing/2014/main" id="{7647488F-BF51-310D-2707-B9FDE8B70E26}"/>
              </a:ext>
            </a:extLst>
          </p:cNvPr>
          <p:cNvSpPr>
            <a:spLocks noGrp="1"/>
          </p:cNvSpPr>
          <p:nvPr>
            <p:ph type="sldNum" sz="quarter" idx="5"/>
          </p:nvPr>
        </p:nvSpPr>
        <p:spPr/>
        <p:txBody>
          <a:bodyPr/>
          <a:lstStyle/>
          <a:p>
            <a:fld id="{319705E0-B94D-B44A-A8FB-BF4F33FFC376}" type="slidenum">
              <a:rPr lang="en-GB" smtClean="0"/>
              <a:t>6</a:t>
            </a:fld>
            <a:endParaRPr lang="en-GB"/>
          </a:p>
        </p:txBody>
      </p:sp>
    </p:spTree>
    <p:extLst>
      <p:ext uri="{BB962C8B-B14F-4D97-AF65-F5344CB8AC3E}">
        <p14:creationId xmlns:p14="http://schemas.microsoft.com/office/powerpoint/2010/main" val="25765074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01EE2-FC1B-F10E-8A91-27B1674FE6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FF8F86-35F3-4A4D-DCED-E5AF2F3256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C1FBA0-87EF-2851-B5F0-D9F8FA441AD5}"/>
              </a:ext>
            </a:extLst>
          </p:cNvPr>
          <p:cNvSpPr>
            <a:spLocks noGrp="1"/>
          </p:cNvSpPr>
          <p:nvPr>
            <p:ph type="body" idx="1"/>
          </p:nvPr>
        </p:nvSpPr>
        <p:spPr/>
        <p:txBody>
          <a:bodyPr/>
          <a:lstStyle/>
          <a:p>
            <a:r>
              <a:rPr lang="en-GB"/>
              <a:t>Image source: Microsoft 365 content library
Snakemake is a workflow management system designed for reproducible data analysis. It uses a Python-based language to define rules and dependencies, making pipeline creation straightforward. The tool automates complex processes, ensures scalability across platforms, and helps researchers organise, track, and share their computational workflows efficiently.</a:t>
            </a:r>
          </a:p>
        </p:txBody>
      </p:sp>
      <p:sp>
        <p:nvSpPr>
          <p:cNvPr id="4" name="Slide Number Placeholder 3">
            <a:extLst>
              <a:ext uri="{FF2B5EF4-FFF2-40B4-BE49-F238E27FC236}">
                <a16:creationId xmlns:a16="http://schemas.microsoft.com/office/drawing/2014/main" id="{4A373F6A-AE7E-AF8A-34F5-147F31FCD9AE}"/>
              </a:ext>
            </a:extLst>
          </p:cNvPr>
          <p:cNvSpPr>
            <a:spLocks noGrp="1"/>
          </p:cNvSpPr>
          <p:nvPr>
            <p:ph type="sldNum" sz="quarter" idx="5"/>
          </p:nvPr>
        </p:nvSpPr>
        <p:spPr/>
        <p:txBody>
          <a:bodyPr/>
          <a:lstStyle/>
          <a:p>
            <a:fld id="{319705E0-B94D-B44A-A8FB-BF4F33FFC376}" type="slidenum">
              <a:rPr lang="en-GB" smtClean="0"/>
              <a:t>7</a:t>
            </a:fld>
            <a:endParaRPr lang="en-GB"/>
          </a:p>
        </p:txBody>
      </p:sp>
    </p:spTree>
    <p:extLst>
      <p:ext uri="{BB962C8B-B14F-4D97-AF65-F5344CB8AC3E}">
        <p14:creationId xmlns:p14="http://schemas.microsoft.com/office/powerpoint/2010/main" val="20431847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F7A05-A60E-4DFB-22DF-6C8D517EB5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E4B654-2B02-7C4E-F1BB-F5B54F6E57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562A77-A401-766D-4A00-B0F8113424A6}"/>
              </a:ext>
            </a:extLst>
          </p:cNvPr>
          <p:cNvSpPr>
            <a:spLocks noGrp="1"/>
          </p:cNvSpPr>
          <p:nvPr>
            <p:ph type="body" idx="1"/>
          </p:nvPr>
        </p:nvSpPr>
        <p:spPr/>
        <p:txBody>
          <a:bodyPr/>
          <a:lstStyle/>
          <a:p>
            <a:r>
              <a:rPr lang="en-GB"/>
              <a:t>Image source: Microsoft 365 content library
Snakemake is a workflow management system designed for reproducible data analysis. It uses a Python-based language to define rules and dependencies, making pipeline creation straightforward. The tool automates complex processes, ensures scalability across platforms, and helps researchers organise, track, and share their computational workflows efficiently.</a:t>
            </a:r>
          </a:p>
        </p:txBody>
      </p:sp>
      <p:sp>
        <p:nvSpPr>
          <p:cNvPr id="4" name="Slide Number Placeholder 3">
            <a:extLst>
              <a:ext uri="{FF2B5EF4-FFF2-40B4-BE49-F238E27FC236}">
                <a16:creationId xmlns:a16="http://schemas.microsoft.com/office/drawing/2014/main" id="{8E5D5969-16D2-3C81-B2BD-25BAD45B21F2}"/>
              </a:ext>
            </a:extLst>
          </p:cNvPr>
          <p:cNvSpPr>
            <a:spLocks noGrp="1"/>
          </p:cNvSpPr>
          <p:nvPr>
            <p:ph type="sldNum" sz="quarter" idx="5"/>
          </p:nvPr>
        </p:nvSpPr>
        <p:spPr/>
        <p:txBody>
          <a:bodyPr/>
          <a:lstStyle/>
          <a:p>
            <a:fld id="{319705E0-B94D-B44A-A8FB-BF4F33FFC376}" type="slidenum">
              <a:rPr lang="en-GB" smtClean="0"/>
              <a:t>8</a:t>
            </a:fld>
            <a:endParaRPr lang="en-GB"/>
          </a:p>
        </p:txBody>
      </p:sp>
    </p:spTree>
    <p:extLst>
      <p:ext uri="{BB962C8B-B14F-4D97-AF65-F5344CB8AC3E}">
        <p14:creationId xmlns:p14="http://schemas.microsoft.com/office/powerpoint/2010/main" val="448254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21B6B-E7B9-9E63-9F8D-B00B9638C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55E71-B0A8-3B22-327D-CEE6AAFC6A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62255C-6B08-12BB-30AD-00FFD53BA000}"/>
              </a:ext>
            </a:extLst>
          </p:cNvPr>
          <p:cNvSpPr>
            <a:spLocks noGrp="1"/>
          </p:cNvSpPr>
          <p:nvPr>
            <p:ph type="body" idx="1"/>
          </p:nvPr>
        </p:nvSpPr>
        <p:spPr/>
        <p:txBody>
          <a:bodyPr/>
          <a:lstStyle/>
          <a:p>
            <a:r>
              <a:rPr lang="en-GB"/>
              <a:t>Image source: Microsoft 365 content library
Snakemake is a workflow management system designed for reproducible data analysis. It uses a Python-based language to define rules and dependencies, making pipeline creation straightforward. The tool automates complex processes, ensures scalability across platforms, and helps researchers organise, track, and share their computational workflows efficiently.</a:t>
            </a:r>
          </a:p>
        </p:txBody>
      </p:sp>
      <p:sp>
        <p:nvSpPr>
          <p:cNvPr id="4" name="Slide Number Placeholder 3">
            <a:extLst>
              <a:ext uri="{FF2B5EF4-FFF2-40B4-BE49-F238E27FC236}">
                <a16:creationId xmlns:a16="http://schemas.microsoft.com/office/drawing/2014/main" id="{F32FE53F-60B2-CC7A-A496-F7D7DE60E43A}"/>
              </a:ext>
            </a:extLst>
          </p:cNvPr>
          <p:cNvSpPr>
            <a:spLocks noGrp="1"/>
          </p:cNvSpPr>
          <p:nvPr>
            <p:ph type="sldNum" sz="quarter" idx="5"/>
          </p:nvPr>
        </p:nvSpPr>
        <p:spPr/>
        <p:txBody>
          <a:bodyPr/>
          <a:lstStyle/>
          <a:p>
            <a:fld id="{319705E0-B94D-B44A-A8FB-BF4F33FFC376}" type="slidenum">
              <a:rPr lang="en-GB" smtClean="0"/>
              <a:t>9</a:t>
            </a:fld>
            <a:endParaRPr lang="en-GB"/>
          </a:p>
        </p:txBody>
      </p:sp>
    </p:spTree>
    <p:extLst>
      <p:ext uri="{BB962C8B-B14F-4D97-AF65-F5344CB8AC3E}">
        <p14:creationId xmlns:p14="http://schemas.microsoft.com/office/powerpoint/2010/main" val="38243406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89698-C5FC-F8C8-1EB4-760A7D0B61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0C904-ECA9-1834-2F56-F316BD9F11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10A446-3F75-A4B6-F12A-7A3C1CCAD1A3}"/>
              </a:ext>
            </a:extLst>
          </p:cNvPr>
          <p:cNvSpPr>
            <a:spLocks noGrp="1"/>
          </p:cNvSpPr>
          <p:nvPr>
            <p:ph type="body" idx="1"/>
          </p:nvPr>
        </p:nvSpPr>
        <p:spPr/>
        <p:txBody>
          <a:bodyPr/>
          <a:lstStyle/>
          <a:p>
            <a:r>
              <a:rPr lang="en-GB"/>
              <a:t>Image source: Microsoft 365 content library
Snakemake is a workflow management system designed for reproducible data analysis. It uses a Python-based language to define rules and dependencies, making pipeline creation straightforward. The tool automates complex processes, ensures scalability across platforms, and helps researchers organise, track, and share their computational workflows efficiently.</a:t>
            </a:r>
          </a:p>
        </p:txBody>
      </p:sp>
      <p:sp>
        <p:nvSpPr>
          <p:cNvPr id="4" name="Slide Number Placeholder 3">
            <a:extLst>
              <a:ext uri="{FF2B5EF4-FFF2-40B4-BE49-F238E27FC236}">
                <a16:creationId xmlns:a16="http://schemas.microsoft.com/office/drawing/2014/main" id="{8D37FFE2-47CA-892D-30D8-9AC485EA3D47}"/>
              </a:ext>
            </a:extLst>
          </p:cNvPr>
          <p:cNvSpPr>
            <a:spLocks noGrp="1"/>
          </p:cNvSpPr>
          <p:nvPr>
            <p:ph type="sldNum" sz="quarter" idx="5"/>
          </p:nvPr>
        </p:nvSpPr>
        <p:spPr/>
        <p:txBody>
          <a:bodyPr/>
          <a:lstStyle/>
          <a:p>
            <a:fld id="{319705E0-B94D-B44A-A8FB-BF4F33FFC376}" type="slidenum">
              <a:rPr lang="en-GB" smtClean="0"/>
              <a:t>10</a:t>
            </a:fld>
            <a:endParaRPr lang="en-GB"/>
          </a:p>
        </p:txBody>
      </p:sp>
    </p:spTree>
    <p:extLst>
      <p:ext uri="{BB962C8B-B14F-4D97-AF65-F5344CB8AC3E}">
        <p14:creationId xmlns:p14="http://schemas.microsoft.com/office/powerpoint/2010/main" val="1131500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C2ACD-8348-7D2B-A2D6-4E958AFAF8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2C4642-07D4-98AE-E98B-AD4718F408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8970B-CB8B-1491-C7F0-BC5A2EEAA8AE}"/>
              </a:ext>
            </a:extLst>
          </p:cNvPr>
          <p:cNvSpPr>
            <a:spLocks noGrp="1"/>
          </p:cNvSpPr>
          <p:nvPr>
            <p:ph type="body" idx="1"/>
          </p:nvPr>
        </p:nvSpPr>
        <p:spPr/>
        <p:txBody>
          <a:bodyPr/>
          <a:lstStyle/>
          <a:p>
            <a:r>
              <a:rPr lang="en-GB"/>
              <a:t>Image source: Microsoft 365 content library
Snakemake is a workflow management system designed for reproducible data analysis. It uses a Python-based language to define rules and dependencies, making pipeline creation straightforward. The tool automates complex processes, ensures scalability across platforms, and helps researchers organise, track, and share their computational workflows efficiently.</a:t>
            </a:r>
          </a:p>
        </p:txBody>
      </p:sp>
      <p:sp>
        <p:nvSpPr>
          <p:cNvPr id="4" name="Slide Number Placeholder 3">
            <a:extLst>
              <a:ext uri="{FF2B5EF4-FFF2-40B4-BE49-F238E27FC236}">
                <a16:creationId xmlns:a16="http://schemas.microsoft.com/office/drawing/2014/main" id="{45BC9CE4-F4B6-B9AE-51DE-9C91822D1BA4}"/>
              </a:ext>
            </a:extLst>
          </p:cNvPr>
          <p:cNvSpPr>
            <a:spLocks noGrp="1"/>
          </p:cNvSpPr>
          <p:nvPr>
            <p:ph type="sldNum" sz="quarter" idx="5"/>
          </p:nvPr>
        </p:nvSpPr>
        <p:spPr/>
        <p:txBody>
          <a:bodyPr/>
          <a:lstStyle/>
          <a:p>
            <a:fld id="{319705E0-B94D-B44A-A8FB-BF4F33FFC376}" type="slidenum">
              <a:rPr lang="en-GB" smtClean="0"/>
              <a:t>11</a:t>
            </a:fld>
            <a:endParaRPr lang="en-GB"/>
          </a:p>
        </p:txBody>
      </p:sp>
    </p:spTree>
    <p:extLst>
      <p:ext uri="{BB962C8B-B14F-4D97-AF65-F5344CB8AC3E}">
        <p14:creationId xmlns:p14="http://schemas.microsoft.com/office/powerpoint/2010/main" val="25732342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C6575-481F-5E65-CA51-6B619B2895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8ECA39-68E2-0333-0D9E-BDE23E6FF8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4E9A29-7E2A-BB50-F3C3-3EC3A48EB2B3}"/>
              </a:ext>
            </a:extLst>
          </p:cNvPr>
          <p:cNvSpPr>
            <a:spLocks noGrp="1"/>
          </p:cNvSpPr>
          <p:nvPr>
            <p:ph type="body" idx="1"/>
          </p:nvPr>
        </p:nvSpPr>
        <p:spPr/>
        <p:txBody>
          <a:bodyPr/>
          <a:lstStyle/>
          <a:p>
            <a:r>
              <a:rPr lang="en-GB"/>
              <a:t>Image source: Microsoft 365 content library
Snakemake is a workflow management system designed for reproducible data analysis. It uses a Python-based language to define rules and dependencies, making pipeline creation straightforward. The tool automates complex processes, ensures scalability across platforms, and helps researchers organise, track, and share their computational workflows efficiently.</a:t>
            </a:r>
          </a:p>
        </p:txBody>
      </p:sp>
      <p:sp>
        <p:nvSpPr>
          <p:cNvPr id="4" name="Slide Number Placeholder 3">
            <a:extLst>
              <a:ext uri="{FF2B5EF4-FFF2-40B4-BE49-F238E27FC236}">
                <a16:creationId xmlns:a16="http://schemas.microsoft.com/office/drawing/2014/main" id="{2DF47783-9F52-2E7D-AC19-6C8793770E23}"/>
              </a:ext>
            </a:extLst>
          </p:cNvPr>
          <p:cNvSpPr>
            <a:spLocks noGrp="1"/>
          </p:cNvSpPr>
          <p:nvPr>
            <p:ph type="sldNum" sz="quarter" idx="5"/>
          </p:nvPr>
        </p:nvSpPr>
        <p:spPr/>
        <p:txBody>
          <a:bodyPr/>
          <a:lstStyle/>
          <a:p>
            <a:fld id="{319705E0-B94D-B44A-A8FB-BF4F33FFC376}" type="slidenum">
              <a:rPr lang="en-GB" smtClean="0"/>
              <a:t>12</a:t>
            </a:fld>
            <a:endParaRPr lang="en-GB"/>
          </a:p>
        </p:txBody>
      </p:sp>
    </p:spTree>
    <p:extLst>
      <p:ext uri="{BB962C8B-B14F-4D97-AF65-F5344CB8AC3E}">
        <p14:creationId xmlns:p14="http://schemas.microsoft.com/office/powerpoint/2010/main" val="9709917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16CFF-7D3F-82A3-6CDF-778D2C6EAE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E14472-8021-9EE2-1449-0C64C05BB7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7C1101-1494-38E9-5EBB-92932310AE9D}"/>
              </a:ext>
            </a:extLst>
          </p:cNvPr>
          <p:cNvSpPr>
            <a:spLocks noGrp="1"/>
          </p:cNvSpPr>
          <p:nvPr>
            <p:ph type="body" idx="1"/>
          </p:nvPr>
        </p:nvSpPr>
        <p:spPr/>
        <p:txBody>
          <a:bodyPr/>
          <a:lstStyle/>
          <a:p>
            <a:r>
              <a:rPr lang="en-GB"/>
              <a:t>Image source: Microsoft 365 content library
Snakemake is a workflow management system designed for reproducible data analysis. It uses a Python-based language to define rules and dependencies, making pipeline creation straightforward. The tool automates complex processes, ensures scalability across platforms, and helps researchers organise, track, and share their computational workflows efficiently.</a:t>
            </a:r>
          </a:p>
        </p:txBody>
      </p:sp>
      <p:sp>
        <p:nvSpPr>
          <p:cNvPr id="4" name="Slide Number Placeholder 3">
            <a:extLst>
              <a:ext uri="{FF2B5EF4-FFF2-40B4-BE49-F238E27FC236}">
                <a16:creationId xmlns:a16="http://schemas.microsoft.com/office/drawing/2014/main" id="{2BE53EDB-FF49-7FD8-36DE-9969691CAF32}"/>
              </a:ext>
            </a:extLst>
          </p:cNvPr>
          <p:cNvSpPr>
            <a:spLocks noGrp="1"/>
          </p:cNvSpPr>
          <p:nvPr>
            <p:ph type="sldNum" sz="quarter" idx="5"/>
          </p:nvPr>
        </p:nvSpPr>
        <p:spPr/>
        <p:txBody>
          <a:bodyPr/>
          <a:lstStyle/>
          <a:p>
            <a:fld id="{319705E0-B94D-B44A-A8FB-BF4F33FFC376}" type="slidenum">
              <a:rPr lang="en-GB" smtClean="0"/>
              <a:t>13</a:t>
            </a:fld>
            <a:endParaRPr lang="en-GB"/>
          </a:p>
        </p:txBody>
      </p:sp>
    </p:spTree>
    <p:extLst>
      <p:ext uri="{BB962C8B-B14F-4D97-AF65-F5344CB8AC3E}">
        <p14:creationId xmlns:p14="http://schemas.microsoft.com/office/powerpoint/2010/main" val="1328941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FB823-386A-2521-E7B3-3B70A3BA99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26D17F-13F2-8267-809E-6E430ED48A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FD8419-0A50-57E7-3975-54C0FFE39A25}"/>
              </a:ext>
            </a:extLst>
          </p:cNvPr>
          <p:cNvSpPr>
            <a:spLocks noGrp="1"/>
          </p:cNvSpPr>
          <p:nvPr>
            <p:ph type="body" idx="1"/>
          </p:nvPr>
        </p:nvSpPr>
        <p:spPr/>
        <p:txBody>
          <a:bodyPr/>
          <a:lstStyle/>
          <a:p>
            <a:r>
              <a:rPr lang="en-GB"/>
              <a:t>Image source: Microsoft 365 content library
Snakemake is a workflow management system designed for reproducible data analysis. It uses a Python-based language to define rules and dependencies, making pipeline creation straightforward. The tool automates complex processes, ensures scalability across platforms, and helps researchers organise, track, and share their computational workflows efficiently.</a:t>
            </a:r>
          </a:p>
        </p:txBody>
      </p:sp>
      <p:sp>
        <p:nvSpPr>
          <p:cNvPr id="4" name="Slide Number Placeholder 3">
            <a:extLst>
              <a:ext uri="{FF2B5EF4-FFF2-40B4-BE49-F238E27FC236}">
                <a16:creationId xmlns:a16="http://schemas.microsoft.com/office/drawing/2014/main" id="{9996F8C8-D28D-82E2-3C8D-5C61CDC68378}"/>
              </a:ext>
            </a:extLst>
          </p:cNvPr>
          <p:cNvSpPr>
            <a:spLocks noGrp="1"/>
          </p:cNvSpPr>
          <p:nvPr>
            <p:ph type="sldNum" sz="quarter" idx="5"/>
          </p:nvPr>
        </p:nvSpPr>
        <p:spPr/>
        <p:txBody>
          <a:bodyPr/>
          <a:lstStyle/>
          <a:p>
            <a:fld id="{319705E0-B94D-B44A-A8FB-BF4F33FFC376}" type="slidenum">
              <a:rPr lang="en-GB" smtClean="0"/>
              <a:t>14</a:t>
            </a:fld>
            <a:endParaRPr lang="en-GB"/>
          </a:p>
        </p:txBody>
      </p:sp>
    </p:spTree>
    <p:extLst>
      <p:ext uri="{BB962C8B-B14F-4D97-AF65-F5344CB8AC3E}">
        <p14:creationId xmlns:p14="http://schemas.microsoft.com/office/powerpoint/2010/main" val="4961686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F1B9-4EAA-B277-CC08-50F8F11161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66FAD3-7935-2D88-8BE4-192F756C2A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FED3D8-D5BC-6FC3-DA60-E856F9CACD21}"/>
              </a:ext>
            </a:extLst>
          </p:cNvPr>
          <p:cNvSpPr>
            <a:spLocks noGrp="1"/>
          </p:cNvSpPr>
          <p:nvPr>
            <p:ph type="body" idx="1"/>
          </p:nvPr>
        </p:nvSpPr>
        <p:spPr/>
        <p:txBody>
          <a:bodyPr/>
          <a:lstStyle/>
          <a:p>
            <a:r>
              <a:rPr lang="en-GB"/>
              <a:t>Image source: Microsoft 365 content library
Snakemake is a workflow management system designed for reproducible data analysis. It uses a Python-based language to define rules and dependencies, making pipeline creation straightforward. The tool automates complex processes, ensures scalability across platforms, and helps researchers organise, track, and share their computational workflows efficiently.</a:t>
            </a:r>
          </a:p>
        </p:txBody>
      </p:sp>
      <p:sp>
        <p:nvSpPr>
          <p:cNvPr id="4" name="Slide Number Placeholder 3">
            <a:extLst>
              <a:ext uri="{FF2B5EF4-FFF2-40B4-BE49-F238E27FC236}">
                <a16:creationId xmlns:a16="http://schemas.microsoft.com/office/drawing/2014/main" id="{1C63633F-3059-FA28-B6BE-92F92EB12236}"/>
              </a:ext>
            </a:extLst>
          </p:cNvPr>
          <p:cNvSpPr>
            <a:spLocks noGrp="1"/>
          </p:cNvSpPr>
          <p:nvPr>
            <p:ph type="sldNum" sz="quarter" idx="5"/>
          </p:nvPr>
        </p:nvSpPr>
        <p:spPr/>
        <p:txBody>
          <a:bodyPr/>
          <a:lstStyle/>
          <a:p>
            <a:fld id="{319705E0-B94D-B44A-A8FB-BF4F33FFC376}" type="slidenum">
              <a:rPr lang="en-GB" smtClean="0"/>
              <a:t>15</a:t>
            </a:fld>
            <a:endParaRPr lang="en-GB"/>
          </a:p>
        </p:txBody>
      </p:sp>
    </p:spTree>
    <p:extLst>
      <p:ext uri="{BB962C8B-B14F-4D97-AF65-F5344CB8AC3E}">
        <p14:creationId xmlns:p14="http://schemas.microsoft.com/office/powerpoint/2010/main" val="36254464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9463E-1269-11E2-AF0E-D6590C501E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2E3D27-EF93-2859-3675-08768AE8F7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4C6021-82AC-43EA-47EC-405411A14864}"/>
              </a:ext>
            </a:extLst>
          </p:cNvPr>
          <p:cNvSpPr>
            <a:spLocks noGrp="1"/>
          </p:cNvSpPr>
          <p:nvPr>
            <p:ph type="body" idx="1"/>
          </p:nvPr>
        </p:nvSpPr>
        <p:spPr/>
        <p:txBody>
          <a:bodyPr/>
          <a:lstStyle/>
          <a:p>
            <a:r>
              <a:rPr lang="en-GB"/>
              <a:t>Image source: Microsoft 365 content library
Snakemake is a workflow management system designed for reproducible data analysis. It uses a Python-based language to define rules and dependencies, making pipeline creation straightforward. The tool automates complex processes, ensures scalability across platforms, and helps researchers organise, track, and share their computational workflows efficiently.</a:t>
            </a:r>
          </a:p>
        </p:txBody>
      </p:sp>
      <p:sp>
        <p:nvSpPr>
          <p:cNvPr id="4" name="Slide Number Placeholder 3">
            <a:extLst>
              <a:ext uri="{FF2B5EF4-FFF2-40B4-BE49-F238E27FC236}">
                <a16:creationId xmlns:a16="http://schemas.microsoft.com/office/drawing/2014/main" id="{2EF9AD99-07A8-3E74-4519-8E53F17D5E21}"/>
              </a:ext>
            </a:extLst>
          </p:cNvPr>
          <p:cNvSpPr>
            <a:spLocks noGrp="1"/>
          </p:cNvSpPr>
          <p:nvPr>
            <p:ph type="sldNum" sz="quarter" idx="5"/>
          </p:nvPr>
        </p:nvSpPr>
        <p:spPr/>
        <p:txBody>
          <a:bodyPr/>
          <a:lstStyle/>
          <a:p>
            <a:fld id="{319705E0-B94D-B44A-A8FB-BF4F33FFC376}" type="slidenum">
              <a:rPr lang="en-GB" smtClean="0"/>
              <a:t>16</a:t>
            </a:fld>
            <a:endParaRPr lang="en-GB"/>
          </a:p>
        </p:txBody>
      </p:sp>
    </p:spTree>
    <p:extLst>
      <p:ext uri="{BB962C8B-B14F-4D97-AF65-F5344CB8AC3E}">
        <p14:creationId xmlns:p14="http://schemas.microsoft.com/office/powerpoint/2010/main" val="3491723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0E3F5-4271-CB0F-1A84-648B59986CE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909B6EFE-8CBF-0F7A-8521-D4F8F0B46E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42105769-1D10-22F3-C30E-F55952C72A5A}"/>
              </a:ext>
            </a:extLst>
          </p:cNvPr>
          <p:cNvSpPr>
            <a:spLocks noGrp="1"/>
          </p:cNvSpPr>
          <p:nvPr>
            <p:ph type="dt" sz="half" idx="10"/>
          </p:nvPr>
        </p:nvSpPr>
        <p:spPr/>
        <p:txBody>
          <a:bodyPr/>
          <a:lstStyle/>
          <a:p>
            <a:fld id="{1FA6F328-A7B8-164D-9A78-5CD81919BAFF}" type="datetimeFigureOut">
              <a:rPr lang="en-GB" smtClean="0"/>
              <a:t>25/05/2026</a:t>
            </a:fld>
            <a:endParaRPr lang="en-GB"/>
          </a:p>
        </p:txBody>
      </p:sp>
      <p:sp>
        <p:nvSpPr>
          <p:cNvPr id="5" name="Footer Placeholder 4">
            <a:extLst>
              <a:ext uri="{FF2B5EF4-FFF2-40B4-BE49-F238E27FC236}">
                <a16:creationId xmlns:a16="http://schemas.microsoft.com/office/drawing/2014/main" id="{1458A2F6-5B51-E0F7-BD07-5BF4704AB7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82E5A7E-3BB7-9A86-DCFD-8F4C9A17253F}"/>
              </a:ext>
            </a:extLst>
          </p:cNvPr>
          <p:cNvSpPr>
            <a:spLocks noGrp="1"/>
          </p:cNvSpPr>
          <p:nvPr>
            <p:ph type="sldNum" sz="quarter" idx="12"/>
          </p:nvPr>
        </p:nvSpPr>
        <p:spPr/>
        <p:txBody>
          <a:bodyPr/>
          <a:lstStyle/>
          <a:p>
            <a:fld id="{0CE61C0E-CF86-5F4F-A316-C0C0DFED1952}" type="slidenum">
              <a:rPr lang="en-GB" smtClean="0"/>
              <a:t>‹#›</a:t>
            </a:fld>
            <a:endParaRPr lang="en-GB"/>
          </a:p>
        </p:txBody>
      </p:sp>
    </p:spTree>
    <p:extLst>
      <p:ext uri="{BB962C8B-B14F-4D97-AF65-F5344CB8AC3E}">
        <p14:creationId xmlns:p14="http://schemas.microsoft.com/office/powerpoint/2010/main" val="4095696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47AE1-8F26-1CEC-EF2E-8A8C278BA348}"/>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0B226C70-C95A-7BEC-5A33-373FDA88107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24A158C-E4D1-4693-5BC3-7FDCD8544129}"/>
              </a:ext>
            </a:extLst>
          </p:cNvPr>
          <p:cNvSpPr>
            <a:spLocks noGrp="1"/>
          </p:cNvSpPr>
          <p:nvPr>
            <p:ph type="dt" sz="half" idx="10"/>
          </p:nvPr>
        </p:nvSpPr>
        <p:spPr/>
        <p:txBody>
          <a:bodyPr/>
          <a:lstStyle/>
          <a:p>
            <a:fld id="{1FA6F328-A7B8-164D-9A78-5CD81919BAFF}" type="datetimeFigureOut">
              <a:rPr lang="en-GB" smtClean="0"/>
              <a:t>25/05/2026</a:t>
            </a:fld>
            <a:endParaRPr lang="en-GB"/>
          </a:p>
        </p:txBody>
      </p:sp>
      <p:sp>
        <p:nvSpPr>
          <p:cNvPr id="5" name="Footer Placeholder 4">
            <a:extLst>
              <a:ext uri="{FF2B5EF4-FFF2-40B4-BE49-F238E27FC236}">
                <a16:creationId xmlns:a16="http://schemas.microsoft.com/office/drawing/2014/main" id="{4BD17DF9-2367-3B8B-662E-EABB74F74C7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702E1D1-BAEF-E298-3DE5-B87CB6D9DA29}"/>
              </a:ext>
            </a:extLst>
          </p:cNvPr>
          <p:cNvSpPr>
            <a:spLocks noGrp="1"/>
          </p:cNvSpPr>
          <p:nvPr>
            <p:ph type="sldNum" sz="quarter" idx="12"/>
          </p:nvPr>
        </p:nvSpPr>
        <p:spPr/>
        <p:txBody>
          <a:bodyPr/>
          <a:lstStyle/>
          <a:p>
            <a:fld id="{0CE61C0E-CF86-5F4F-A316-C0C0DFED1952}" type="slidenum">
              <a:rPr lang="en-GB" smtClean="0"/>
              <a:t>‹#›</a:t>
            </a:fld>
            <a:endParaRPr lang="en-GB"/>
          </a:p>
        </p:txBody>
      </p:sp>
    </p:spTree>
    <p:extLst>
      <p:ext uri="{BB962C8B-B14F-4D97-AF65-F5344CB8AC3E}">
        <p14:creationId xmlns:p14="http://schemas.microsoft.com/office/powerpoint/2010/main" val="2056301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4FDD1-5C97-9B68-591E-4A1369C5A2E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8D0FE132-CEE8-D9BB-7A9E-8204E64D8B8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969D01D-E17E-D4F6-0DAE-7264FE6B6A51}"/>
              </a:ext>
            </a:extLst>
          </p:cNvPr>
          <p:cNvSpPr>
            <a:spLocks noGrp="1"/>
          </p:cNvSpPr>
          <p:nvPr>
            <p:ph type="dt" sz="half" idx="10"/>
          </p:nvPr>
        </p:nvSpPr>
        <p:spPr/>
        <p:txBody>
          <a:bodyPr/>
          <a:lstStyle/>
          <a:p>
            <a:fld id="{1FA6F328-A7B8-164D-9A78-5CD81919BAFF}" type="datetimeFigureOut">
              <a:rPr lang="en-GB" smtClean="0"/>
              <a:t>25/05/2026</a:t>
            </a:fld>
            <a:endParaRPr lang="en-GB"/>
          </a:p>
        </p:txBody>
      </p:sp>
      <p:sp>
        <p:nvSpPr>
          <p:cNvPr id="5" name="Footer Placeholder 4">
            <a:extLst>
              <a:ext uri="{FF2B5EF4-FFF2-40B4-BE49-F238E27FC236}">
                <a16:creationId xmlns:a16="http://schemas.microsoft.com/office/drawing/2014/main" id="{5904CD9F-E472-D79C-7714-61C866D912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4D58C1-3680-4148-6E12-FC38BD2CD4B4}"/>
              </a:ext>
            </a:extLst>
          </p:cNvPr>
          <p:cNvSpPr>
            <a:spLocks noGrp="1"/>
          </p:cNvSpPr>
          <p:nvPr>
            <p:ph type="sldNum" sz="quarter" idx="12"/>
          </p:nvPr>
        </p:nvSpPr>
        <p:spPr/>
        <p:txBody>
          <a:bodyPr/>
          <a:lstStyle/>
          <a:p>
            <a:fld id="{0CE61C0E-CF86-5F4F-A316-C0C0DFED1952}" type="slidenum">
              <a:rPr lang="en-GB" smtClean="0"/>
              <a:t>‹#›</a:t>
            </a:fld>
            <a:endParaRPr lang="en-GB"/>
          </a:p>
        </p:txBody>
      </p:sp>
    </p:spTree>
    <p:extLst>
      <p:ext uri="{BB962C8B-B14F-4D97-AF65-F5344CB8AC3E}">
        <p14:creationId xmlns:p14="http://schemas.microsoft.com/office/powerpoint/2010/main" val="2641011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7A1D5-FB7E-1399-DAA2-ECB6D905136E}"/>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FC564DB4-2D44-81CC-7A97-C63750A0310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B9EBCA2F-9DEC-C274-3EB3-77CEBB80956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E900295A-D990-E7AA-3A8B-8BDE9C820B6A}"/>
              </a:ext>
            </a:extLst>
          </p:cNvPr>
          <p:cNvSpPr>
            <a:spLocks noGrp="1"/>
          </p:cNvSpPr>
          <p:nvPr>
            <p:ph type="dt" sz="half" idx="10"/>
          </p:nvPr>
        </p:nvSpPr>
        <p:spPr/>
        <p:txBody>
          <a:bodyPr/>
          <a:lstStyle/>
          <a:p>
            <a:fld id="{1FA6F328-A7B8-164D-9A78-5CD81919BAFF}" type="datetimeFigureOut">
              <a:rPr lang="en-GB" smtClean="0"/>
              <a:t>25/05/2026</a:t>
            </a:fld>
            <a:endParaRPr lang="en-GB"/>
          </a:p>
        </p:txBody>
      </p:sp>
      <p:sp>
        <p:nvSpPr>
          <p:cNvPr id="6" name="Footer Placeholder 5">
            <a:extLst>
              <a:ext uri="{FF2B5EF4-FFF2-40B4-BE49-F238E27FC236}">
                <a16:creationId xmlns:a16="http://schemas.microsoft.com/office/drawing/2014/main" id="{63A327DD-C06A-D630-9FE6-A61FBB084BB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7E267DE-63B1-4393-9A49-961AC6FDEC03}"/>
              </a:ext>
            </a:extLst>
          </p:cNvPr>
          <p:cNvSpPr>
            <a:spLocks noGrp="1"/>
          </p:cNvSpPr>
          <p:nvPr>
            <p:ph type="sldNum" sz="quarter" idx="12"/>
          </p:nvPr>
        </p:nvSpPr>
        <p:spPr/>
        <p:txBody>
          <a:bodyPr/>
          <a:lstStyle/>
          <a:p>
            <a:fld id="{0CE61C0E-CF86-5F4F-A316-C0C0DFED1952}" type="slidenum">
              <a:rPr lang="en-GB" smtClean="0"/>
              <a:t>‹#›</a:t>
            </a:fld>
            <a:endParaRPr lang="en-GB"/>
          </a:p>
        </p:txBody>
      </p:sp>
    </p:spTree>
    <p:extLst>
      <p:ext uri="{BB962C8B-B14F-4D97-AF65-F5344CB8AC3E}">
        <p14:creationId xmlns:p14="http://schemas.microsoft.com/office/powerpoint/2010/main" val="3673276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B1373-2194-AFB6-D4BE-C7FB37D816BB}"/>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78E08F37-5714-8273-76E8-09C572D22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862E526-A927-CC50-8BD5-05DE96E40AD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75EF3919-E555-27CC-E8FB-A34F58BE45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72BC28C-BA01-6F0B-6975-2702181C387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B83C43F5-1621-479B-0B6C-0436D5D8B2CE}"/>
              </a:ext>
            </a:extLst>
          </p:cNvPr>
          <p:cNvSpPr>
            <a:spLocks noGrp="1"/>
          </p:cNvSpPr>
          <p:nvPr>
            <p:ph type="dt" sz="half" idx="10"/>
          </p:nvPr>
        </p:nvSpPr>
        <p:spPr/>
        <p:txBody>
          <a:bodyPr/>
          <a:lstStyle/>
          <a:p>
            <a:fld id="{1FA6F328-A7B8-164D-9A78-5CD81919BAFF}" type="datetimeFigureOut">
              <a:rPr lang="en-GB" smtClean="0"/>
              <a:t>25/05/2026</a:t>
            </a:fld>
            <a:endParaRPr lang="en-GB"/>
          </a:p>
        </p:txBody>
      </p:sp>
      <p:sp>
        <p:nvSpPr>
          <p:cNvPr id="8" name="Footer Placeholder 7">
            <a:extLst>
              <a:ext uri="{FF2B5EF4-FFF2-40B4-BE49-F238E27FC236}">
                <a16:creationId xmlns:a16="http://schemas.microsoft.com/office/drawing/2014/main" id="{3810111B-E8E9-BDA4-4E55-3FA55F88E57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963FD0E-5CBC-5D10-513F-6A9271CA31C3}"/>
              </a:ext>
            </a:extLst>
          </p:cNvPr>
          <p:cNvSpPr>
            <a:spLocks noGrp="1"/>
          </p:cNvSpPr>
          <p:nvPr>
            <p:ph type="sldNum" sz="quarter" idx="12"/>
          </p:nvPr>
        </p:nvSpPr>
        <p:spPr/>
        <p:txBody>
          <a:bodyPr/>
          <a:lstStyle/>
          <a:p>
            <a:fld id="{0CE61C0E-CF86-5F4F-A316-C0C0DFED1952}" type="slidenum">
              <a:rPr lang="en-GB" smtClean="0"/>
              <a:t>‹#›</a:t>
            </a:fld>
            <a:endParaRPr lang="en-GB"/>
          </a:p>
        </p:txBody>
      </p:sp>
    </p:spTree>
    <p:extLst>
      <p:ext uri="{BB962C8B-B14F-4D97-AF65-F5344CB8AC3E}">
        <p14:creationId xmlns:p14="http://schemas.microsoft.com/office/powerpoint/2010/main" val="150090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B8AA3-06BB-26B6-3B3F-6BB82EDC3B37}"/>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4CAA2B98-8FBC-5C30-0292-9179381ED0FC}"/>
              </a:ext>
            </a:extLst>
          </p:cNvPr>
          <p:cNvSpPr>
            <a:spLocks noGrp="1"/>
          </p:cNvSpPr>
          <p:nvPr>
            <p:ph type="dt" sz="half" idx="10"/>
          </p:nvPr>
        </p:nvSpPr>
        <p:spPr/>
        <p:txBody>
          <a:bodyPr/>
          <a:lstStyle/>
          <a:p>
            <a:fld id="{1FA6F328-A7B8-164D-9A78-5CD81919BAFF}" type="datetimeFigureOut">
              <a:rPr lang="en-GB" smtClean="0"/>
              <a:t>25/05/2026</a:t>
            </a:fld>
            <a:endParaRPr lang="en-GB"/>
          </a:p>
        </p:txBody>
      </p:sp>
      <p:sp>
        <p:nvSpPr>
          <p:cNvPr id="4" name="Footer Placeholder 3">
            <a:extLst>
              <a:ext uri="{FF2B5EF4-FFF2-40B4-BE49-F238E27FC236}">
                <a16:creationId xmlns:a16="http://schemas.microsoft.com/office/drawing/2014/main" id="{DC6D3E78-0392-2DA5-156C-DD2DCFACF7C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EFF176B-9D2A-3EFC-6EC2-5570A4A2BFC7}"/>
              </a:ext>
            </a:extLst>
          </p:cNvPr>
          <p:cNvSpPr>
            <a:spLocks noGrp="1"/>
          </p:cNvSpPr>
          <p:nvPr>
            <p:ph type="sldNum" sz="quarter" idx="12"/>
          </p:nvPr>
        </p:nvSpPr>
        <p:spPr/>
        <p:txBody>
          <a:bodyPr/>
          <a:lstStyle/>
          <a:p>
            <a:fld id="{0CE61C0E-CF86-5F4F-A316-C0C0DFED1952}" type="slidenum">
              <a:rPr lang="en-GB" smtClean="0"/>
              <a:t>‹#›</a:t>
            </a:fld>
            <a:endParaRPr lang="en-GB"/>
          </a:p>
        </p:txBody>
      </p:sp>
    </p:spTree>
    <p:extLst>
      <p:ext uri="{BB962C8B-B14F-4D97-AF65-F5344CB8AC3E}">
        <p14:creationId xmlns:p14="http://schemas.microsoft.com/office/powerpoint/2010/main" val="3556692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BE84FB-2C3B-A757-6C27-A51C210F317A}"/>
              </a:ext>
            </a:extLst>
          </p:cNvPr>
          <p:cNvSpPr>
            <a:spLocks noGrp="1"/>
          </p:cNvSpPr>
          <p:nvPr>
            <p:ph type="dt" sz="half" idx="10"/>
          </p:nvPr>
        </p:nvSpPr>
        <p:spPr/>
        <p:txBody>
          <a:bodyPr/>
          <a:lstStyle/>
          <a:p>
            <a:fld id="{1FA6F328-A7B8-164D-9A78-5CD81919BAFF}" type="datetimeFigureOut">
              <a:rPr lang="en-GB" smtClean="0"/>
              <a:t>25/05/2026</a:t>
            </a:fld>
            <a:endParaRPr lang="en-GB"/>
          </a:p>
        </p:txBody>
      </p:sp>
      <p:sp>
        <p:nvSpPr>
          <p:cNvPr id="3" name="Footer Placeholder 2">
            <a:extLst>
              <a:ext uri="{FF2B5EF4-FFF2-40B4-BE49-F238E27FC236}">
                <a16:creationId xmlns:a16="http://schemas.microsoft.com/office/drawing/2014/main" id="{E79D7276-2BB9-5F26-026D-B63781E7392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4D6887A7-BC1A-A04A-26FE-E9867161AA3F}"/>
              </a:ext>
            </a:extLst>
          </p:cNvPr>
          <p:cNvSpPr>
            <a:spLocks noGrp="1"/>
          </p:cNvSpPr>
          <p:nvPr>
            <p:ph type="sldNum" sz="quarter" idx="12"/>
          </p:nvPr>
        </p:nvSpPr>
        <p:spPr/>
        <p:txBody>
          <a:bodyPr/>
          <a:lstStyle/>
          <a:p>
            <a:fld id="{0CE61C0E-CF86-5F4F-A316-C0C0DFED1952}" type="slidenum">
              <a:rPr lang="en-GB" smtClean="0"/>
              <a:t>‹#›</a:t>
            </a:fld>
            <a:endParaRPr lang="en-GB"/>
          </a:p>
        </p:txBody>
      </p:sp>
    </p:spTree>
    <p:extLst>
      <p:ext uri="{BB962C8B-B14F-4D97-AF65-F5344CB8AC3E}">
        <p14:creationId xmlns:p14="http://schemas.microsoft.com/office/powerpoint/2010/main" val="810794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0C868-E7FA-1945-7B2A-141E51737A7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DD42827A-F4C6-EEB7-3C22-8D37B4DC64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1346D23C-D0B9-D7C5-73BD-C5E0C1593B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3ABB975-6769-83DF-378D-B18F3A809374}"/>
              </a:ext>
            </a:extLst>
          </p:cNvPr>
          <p:cNvSpPr>
            <a:spLocks noGrp="1"/>
          </p:cNvSpPr>
          <p:nvPr>
            <p:ph type="dt" sz="half" idx="10"/>
          </p:nvPr>
        </p:nvSpPr>
        <p:spPr/>
        <p:txBody>
          <a:bodyPr/>
          <a:lstStyle/>
          <a:p>
            <a:fld id="{1FA6F328-A7B8-164D-9A78-5CD81919BAFF}" type="datetimeFigureOut">
              <a:rPr lang="en-GB" smtClean="0"/>
              <a:t>25/05/2026</a:t>
            </a:fld>
            <a:endParaRPr lang="en-GB"/>
          </a:p>
        </p:txBody>
      </p:sp>
      <p:sp>
        <p:nvSpPr>
          <p:cNvPr id="6" name="Footer Placeholder 5">
            <a:extLst>
              <a:ext uri="{FF2B5EF4-FFF2-40B4-BE49-F238E27FC236}">
                <a16:creationId xmlns:a16="http://schemas.microsoft.com/office/drawing/2014/main" id="{41A59166-75E8-119E-41B1-64D80C54108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C42E79C-EEE4-E2CD-C90F-EEBBFA07503A}"/>
              </a:ext>
            </a:extLst>
          </p:cNvPr>
          <p:cNvSpPr>
            <a:spLocks noGrp="1"/>
          </p:cNvSpPr>
          <p:nvPr>
            <p:ph type="sldNum" sz="quarter" idx="12"/>
          </p:nvPr>
        </p:nvSpPr>
        <p:spPr/>
        <p:txBody>
          <a:bodyPr/>
          <a:lstStyle/>
          <a:p>
            <a:fld id="{0CE61C0E-CF86-5F4F-A316-C0C0DFED1952}" type="slidenum">
              <a:rPr lang="en-GB" smtClean="0"/>
              <a:t>‹#›</a:t>
            </a:fld>
            <a:endParaRPr lang="en-GB"/>
          </a:p>
        </p:txBody>
      </p:sp>
    </p:spTree>
    <p:extLst>
      <p:ext uri="{BB962C8B-B14F-4D97-AF65-F5344CB8AC3E}">
        <p14:creationId xmlns:p14="http://schemas.microsoft.com/office/powerpoint/2010/main" val="2383586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3330F-C64E-63A0-E96F-03AE19F4A16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0B1A4AC4-B235-9554-E35E-1DA4E81472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BE4BFD1-D15B-40D7-5CA0-E76C717EF3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E092373-F02A-3A35-1E0F-711B85F3A1BC}"/>
              </a:ext>
            </a:extLst>
          </p:cNvPr>
          <p:cNvSpPr>
            <a:spLocks noGrp="1"/>
          </p:cNvSpPr>
          <p:nvPr>
            <p:ph type="dt" sz="half" idx="10"/>
          </p:nvPr>
        </p:nvSpPr>
        <p:spPr/>
        <p:txBody>
          <a:bodyPr/>
          <a:lstStyle/>
          <a:p>
            <a:fld id="{1FA6F328-A7B8-164D-9A78-5CD81919BAFF}" type="datetimeFigureOut">
              <a:rPr lang="en-GB" smtClean="0"/>
              <a:t>25/05/2026</a:t>
            </a:fld>
            <a:endParaRPr lang="en-GB"/>
          </a:p>
        </p:txBody>
      </p:sp>
      <p:sp>
        <p:nvSpPr>
          <p:cNvPr id="6" name="Footer Placeholder 5">
            <a:extLst>
              <a:ext uri="{FF2B5EF4-FFF2-40B4-BE49-F238E27FC236}">
                <a16:creationId xmlns:a16="http://schemas.microsoft.com/office/drawing/2014/main" id="{00303FF5-80AB-CBC8-0DA6-DCA4C7E0D55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CD24EE9-68D1-8DA1-C4EB-F9B0B4F9C192}"/>
              </a:ext>
            </a:extLst>
          </p:cNvPr>
          <p:cNvSpPr>
            <a:spLocks noGrp="1"/>
          </p:cNvSpPr>
          <p:nvPr>
            <p:ph type="sldNum" sz="quarter" idx="12"/>
          </p:nvPr>
        </p:nvSpPr>
        <p:spPr/>
        <p:txBody>
          <a:bodyPr/>
          <a:lstStyle/>
          <a:p>
            <a:fld id="{0CE61C0E-CF86-5F4F-A316-C0C0DFED1952}" type="slidenum">
              <a:rPr lang="en-GB" smtClean="0"/>
              <a:t>‹#›</a:t>
            </a:fld>
            <a:endParaRPr lang="en-GB"/>
          </a:p>
        </p:txBody>
      </p:sp>
    </p:spTree>
    <p:extLst>
      <p:ext uri="{BB962C8B-B14F-4D97-AF65-F5344CB8AC3E}">
        <p14:creationId xmlns:p14="http://schemas.microsoft.com/office/powerpoint/2010/main" val="1029211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E1BD9-DB16-C4C0-5E4C-E06AF3E9A75A}"/>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6E29C72E-1F1D-BCAA-576B-14BD89760F4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645A593-2C70-81D4-6F09-071AD7C3B6F4}"/>
              </a:ext>
            </a:extLst>
          </p:cNvPr>
          <p:cNvSpPr>
            <a:spLocks noGrp="1"/>
          </p:cNvSpPr>
          <p:nvPr>
            <p:ph type="dt" sz="half" idx="10"/>
          </p:nvPr>
        </p:nvSpPr>
        <p:spPr/>
        <p:txBody>
          <a:bodyPr/>
          <a:lstStyle/>
          <a:p>
            <a:fld id="{1FA6F328-A7B8-164D-9A78-5CD81919BAFF}" type="datetimeFigureOut">
              <a:rPr lang="en-GB" smtClean="0"/>
              <a:t>25/05/2026</a:t>
            </a:fld>
            <a:endParaRPr lang="en-GB"/>
          </a:p>
        </p:txBody>
      </p:sp>
      <p:sp>
        <p:nvSpPr>
          <p:cNvPr id="5" name="Footer Placeholder 4">
            <a:extLst>
              <a:ext uri="{FF2B5EF4-FFF2-40B4-BE49-F238E27FC236}">
                <a16:creationId xmlns:a16="http://schemas.microsoft.com/office/drawing/2014/main" id="{5CD1ACCD-ADA6-4162-1187-2903A7AAAC7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610A691-C4DB-09DD-EC55-0A4A0EC11202}"/>
              </a:ext>
            </a:extLst>
          </p:cNvPr>
          <p:cNvSpPr>
            <a:spLocks noGrp="1"/>
          </p:cNvSpPr>
          <p:nvPr>
            <p:ph type="sldNum" sz="quarter" idx="12"/>
          </p:nvPr>
        </p:nvSpPr>
        <p:spPr/>
        <p:txBody>
          <a:bodyPr/>
          <a:lstStyle/>
          <a:p>
            <a:fld id="{0CE61C0E-CF86-5F4F-A316-C0C0DFED1952}" type="slidenum">
              <a:rPr lang="en-GB" smtClean="0"/>
              <a:t>‹#›</a:t>
            </a:fld>
            <a:endParaRPr lang="en-GB"/>
          </a:p>
        </p:txBody>
      </p:sp>
    </p:spTree>
    <p:extLst>
      <p:ext uri="{BB962C8B-B14F-4D97-AF65-F5344CB8AC3E}">
        <p14:creationId xmlns:p14="http://schemas.microsoft.com/office/powerpoint/2010/main" val="2166834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F7EF4F-5D28-FC13-3CB4-EF204DB36CCC}"/>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1D8DB982-E296-C439-51AC-B1244264532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2E1B08A-6DF1-C7A1-6ECF-1F4760652469}"/>
              </a:ext>
            </a:extLst>
          </p:cNvPr>
          <p:cNvSpPr>
            <a:spLocks noGrp="1"/>
          </p:cNvSpPr>
          <p:nvPr>
            <p:ph type="dt" sz="half" idx="10"/>
          </p:nvPr>
        </p:nvSpPr>
        <p:spPr/>
        <p:txBody>
          <a:bodyPr/>
          <a:lstStyle/>
          <a:p>
            <a:fld id="{1FA6F328-A7B8-164D-9A78-5CD81919BAFF}" type="datetimeFigureOut">
              <a:rPr lang="en-GB" smtClean="0"/>
              <a:t>25/05/2026</a:t>
            </a:fld>
            <a:endParaRPr lang="en-GB"/>
          </a:p>
        </p:txBody>
      </p:sp>
      <p:sp>
        <p:nvSpPr>
          <p:cNvPr id="5" name="Footer Placeholder 4">
            <a:extLst>
              <a:ext uri="{FF2B5EF4-FFF2-40B4-BE49-F238E27FC236}">
                <a16:creationId xmlns:a16="http://schemas.microsoft.com/office/drawing/2014/main" id="{AB30E805-660B-2EF0-FC68-50D024005C2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80AF102-F0AE-1883-8B85-6225DB46FC6B}"/>
              </a:ext>
            </a:extLst>
          </p:cNvPr>
          <p:cNvSpPr>
            <a:spLocks noGrp="1"/>
          </p:cNvSpPr>
          <p:nvPr>
            <p:ph type="sldNum" sz="quarter" idx="12"/>
          </p:nvPr>
        </p:nvSpPr>
        <p:spPr/>
        <p:txBody>
          <a:bodyPr/>
          <a:lstStyle/>
          <a:p>
            <a:fld id="{0CE61C0E-CF86-5F4F-A316-C0C0DFED1952}" type="slidenum">
              <a:rPr lang="en-GB" smtClean="0"/>
              <a:t>‹#›</a:t>
            </a:fld>
            <a:endParaRPr lang="en-GB"/>
          </a:p>
        </p:txBody>
      </p:sp>
    </p:spTree>
    <p:extLst>
      <p:ext uri="{BB962C8B-B14F-4D97-AF65-F5344CB8AC3E}">
        <p14:creationId xmlns:p14="http://schemas.microsoft.com/office/powerpoint/2010/main" val="772208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DA1497-C9C3-377B-A83A-D420FC3248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A120A0E6-CE1F-A313-9652-5BF686AFF2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AC44F0F-8B8C-DADA-AA44-E03A75F6D4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FA6F328-A7B8-164D-9A78-5CD81919BAFF}" type="datetimeFigureOut">
              <a:rPr lang="en-GB" smtClean="0"/>
              <a:t>25/05/2026</a:t>
            </a:fld>
            <a:endParaRPr lang="en-GB"/>
          </a:p>
        </p:txBody>
      </p:sp>
      <p:sp>
        <p:nvSpPr>
          <p:cNvPr id="5" name="Footer Placeholder 4">
            <a:extLst>
              <a:ext uri="{FF2B5EF4-FFF2-40B4-BE49-F238E27FC236}">
                <a16:creationId xmlns:a16="http://schemas.microsoft.com/office/drawing/2014/main" id="{C576A8EC-ADC2-14B7-8DAF-E301275BF1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4EF5A89-C83A-4D7B-DC55-26946350C3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E61C0E-CF86-5F4F-A316-C0C0DFED1952}" type="slidenum">
              <a:rPr lang="en-GB" smtClean="0"/>
              <a:t>‹#›</a:t>
            </a:fld>
            <a:endParaRPr lang="en-GB"/>
          </a:p>
        </p:txBody>
      </p:sp>
    </p:spTree>
    <p:extLst>
      <p:ext uri="{BB962C8B-B14F-4D97-AF65-F5344CB8AC3E}">
        <p14:creationId xmlns:p14="http://schemas.microsoft.com/office/powerpoint/2010/main" val="1986866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hyperlink" Target="https://github.com/JuanBSLeite/snakemake-training-2025"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29765-51B7-AB15-2BEB-39B9473B7D8F}"/>
              </a:ext>
            </a:extLst>
          </p:cNvPr>
          <p:cNvSpPr>
            <a:spLocks noGrp="1"/>
          </p:cNvSpPr>
          <p:nvPr>
            <p:ph type="ctrTitle"/>
          </p:nvPr>
        </p:nvSpPr>
        <p:spPr>
          <a:xfrm>
            <a:off x="370115" y="1895396"/>
            <a:ext cx="7881257" cy="2387600"/>
          </a:xfrm>
        </p:spPr>
        <p:txBody>
          <a:bodyPr/>
          <a:lstStyle/>
          <a:p>
            <a:r>
              <a:rPr lang="en-GB" dirty="0" err="1"/>
              <a:t>Snakemake</a:t>
            </a:r>
            <a:r>
              <a:rPr lang="en-GB" dirty="0"/>
              <a:t> </a:t>
            </a:r>
            <a:r>
              <a:rPr lang="en-GB" dirty="0" err="1"/>
              <a:t>Trainning</a:t>
            </a:r>
            <a:r>
              <a:rPr lang="en-GB" dirty="0"/>
              <a:t> 2025</a:t>
            </a:r>
          </a:p>
        </p:txBody>
      </p:sp>
      <p:sp>
        <p:nvSpPr>
          <p:cNvPr id="3" name="Subtitle 2">
            <a:extLst>
              <a:ext uri="{FF2B5EF4-FFF2-40B4-BE49-F238E27FC236}">
                <a16:creationId xmlns:a16="http://schemas.microsoft.com/office/drawing/2014/main" id="{CBBE5C0D-A2F5-1015-B3C1-2DF794CBDE02}"/>
              </a:ext>
            </a:extLst>
          </p:cNvPr>
          <p:cNvSpPr>
            <a:spLocks noGrp="1"/>
          </p:cNvSpPr>
          <p:nvPr>
            <p:ph type="subTitle" idx="1"/>
          </p:nvPr>
        </p:nvSpPr>
        <p:spPr>
          <a:xfrm>
            <a:off x="2226128" y="4471909"/>
            <a:ext cx="4169229" cy="1655762"/>
          </a:xfrm>
        </p:spPr>
        <p:txBody>
          <a:bodyPr/>
          <a:lstStyle/>
          <a:p>
            <a:r>
              <a:rPr lang="en-GB" dirty="0"/>
              <a:t>Juan Leite</a:t>
            </a:r>
          </a:p>
        </p:txBody>
      </p:sp>
      <p:pic>
        <p:nvPicPr>
          <p:cNvPr id="5122" name="Picture 2" descr="Snakemake · GitHub">
            <a:extLst>
              <a:ext uri="{FF2B5EF4-FFF2-40B4-BE49-F238E27FC236}">
                <a16:creationId xmlns:a16="http://schemas.microsoft.com/office/drawing/2014/main" id="{F3C0818C-21E2-B298-1486-DF04C84B03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50628" y="4624483"/>
            <a:ext cx="1906361" cy="190636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37A2CD61-1F50-E915-6BAC-07EFD041586D}"/>
              </a:ext>
            </a:extLst>
          </p:cNvPr>
          <p:cNvPicPr>
            <a:picLocks noChangeAspect="1"/>
          </p:cNvPicPr>
          <p:nvPr/>
        </p:nvPicPr>
        <p:blipFill>
          <a:blip r:embed="rId3"/>
          <a:stretch>
            <a:fillRect/>
          </a:stretch>
        </p:blipFill>
        <p:spPr>
          <a:xfrm>
            <a:off x="8955848" y="1564490"/>
            <a:ext cx="2362199" cy="2362199"/>
          </a:xfrm>
          <a:prstGeom prst="rect">
            <a:avLst/>
          </a:prstGeom>
        </p:spPr>
      </p:pic>
      <p:pic>
        <p:nvPicPr>
          <p:cNvPr id="5124" name="Picture 4" descr="GitHub: o que é e qual sua importância?">
            <a:extLst>
              <a:ext uri="{FF2B5EF4-FFF2-40B4-BE49-F238E27FC236}">
                <a16:creationId xmlns:a16="http://schemas.microsoft.com/office/drawing/2014/main" id="{6E26BCAF-C73A-8A5D-381E-DEF2F5A9BA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48372" y="174756"/>
            <a:ext cx="977153" cy="539541"/>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a:extLst>
              <a:ext uri="{FF2B5EF4-FFF2-40B4-BE49-F238E27FC236}">
                <a16:creationId xmlns:a16="http://schemas.microsoft.com/office/drawing/2014/main" id="{E3DA0194-E1B0-A863-60FA-6B72BEB3A9E2}"/>
              </a:ext>
            </a:extLst>
          </p:cNvPr>
          <p:cNvCxnSpPr>
            <a:stCxn id="5124" idx="2"/>
            <a:endCxn id="4" idx="0"/>
          </p:cNvCxnSpPr>
          <p:nvPr/>
        </p:nvCxnSpPr>
        <p:spPr>
          <a:xfrm flipH="1">
            <a:off x="10136948" y="714297"/>
            <a:ext cx="1" cy="85019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7033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B11F95-6107-E658-6E5D-CB037977E3EE}"/>
              </a:ext>
            </a:extLst>
          </p:cNvPr>
          <p:cNvSpPr>
            <a:spLocks noGrp="1"/>
          </p:cNvSpPr>
          <p:nvPr>
            <p:ph type="title"/>
          </p:nvPr>
        </p:nvSpPr>
        <p:spPr>
          <a:xfrm>
            <a:off x="761800" y="762001"/>
            <a:ext cx="5334197" cy="1708242"/>
          </a:xfrm>
        </p:spPr>
        <p:txBody>
          <a:bodyPr vert="horz" lIns="91440" tIns="45720" rIns="91440" bIns="45720" rtlCol="0" anchor="ctr">
            <a:normAutofit/>
          </a:bodyPr>
          <a:lstStyle/>
          <a:p>
            <a:r>
              <a:rPr lang="en-US" sz="4000" b="1" dirty="0"/>
              <a:t>Introducing </a:t>
            </a:r>
            <a:r>
              <a:rPr lang="en-US" sz="4000" b="1" dirty="0" err="1"/>
              <a:t>Snakemake</a:t>
            </a:r>
            <a:r>
              <a:rPr lang="en-US" sz="4000" b="1" dirty="0"/>
              <a:t> Tool</a:t>
            </a:r>
          </a:p>
        </p:txBody>
      </p:sp>
      <p:sp>
        <p:nvSpPr>
          <p:cNvPr id="4" name="Content Placeholder 3">
            <a:extLst>
              <a:ext uri="{FF2B5EF4-FFF2-40B4-BE49-F238E27FC236}">
                <a16:creationId xmlns:a16="http://schemas.microsoft.com/office/drawing/2014/main" id="{C11A84D6-B6BB-D838-751E-091941F651D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61800" y="2470244"/>
            <a:ext cx="5334197" cy="3769835"/>
          </a:xfrm>
        </p:spPr>
        <p:txBody>
          <a:bodyPr>
            <a:normAutofit/>
          </a:bodyPr>
          <a:lstStyle/>
          <a:p>
            <a:pPr marL="0" indent="0">
              <a:spcBef>
                <a:spcPts val="2500"/>
              </a:spcBef>
              <a:buFont typeface="Arial" panose="020B0604020202020204" pitchFamily="34" charset="0"/>
              <a:buNone/>
            </a:pPr>
            <a:r>
              <a:rPr lang="en-GB" sz="1400" b="1" dirty="0"/>
              <a:t>Reproducible Data Analysis</a:t>
            </a:r>
          </a:p>
          <a:p>
            <a:pPr marL="0" lvl="1" indent="0">
              <a:buFont typeface="Arial" panose="020B0604020202020204" pitchFamily="34" charset="0"/>
              <a:buNone/>
            </a:pPr>
            <a:r>
              <a:rPr lang="en-GB" sz="1400" dirty="0" err="1"/>
              <a:t>Snakemake</a:t>
            </a:r>
            <a:r>
              <a:rPr lang="en-GB" sz="1400" dirty="0"/>
              <a:t> ensures that data analysis processes are easy to reproduce and share, improving research collaboration and reliability.</a:t>
            </a:r>
          </a:p>
          <a:p>
            <a:pPr marL="0" indent="0">
              <a:spcBef>
                <a:spcPts val="2500"/>
              </a:spcBef>
              <a:buFont typeface="Arial" panose="020B0604020202020204" pitchFamily="34" charset="0"/>
              <a:buNone/>
            </a:pPr>
            <a:r>
              <a:rPr lang="en-GB" sz="1400" b="1" dirty="0"/>
              <a:t>Python-Based Rule Definition</a:t>
            </a:r>
          </a:p>
          <a:p>
            <a:pPr marL="0" lvl="1" indent="0">
              <a:buFont typeface="Arial" panose="020B0604020202020204" pitchFamily="34" charset="0"/>
              <a:buNone/>
            </a:pPr>
            <a:r>
              <a:rPr lang="en-GB" sz="1400" dirty="0"/>
              <a:t>Users define rules, steps, and dependencies with a straightforward Python-based language, making pipeline creation accessible and flexible.</a:t>
            </a:r>
          </a:p>
          <a:p>
            <a:pPr marL="0" indent="0">
              <a:spcBef>
                <a:spcPts val="2500"/>
              </a:spcBef>
              <a:buFont typeface="Arial" panose="020B0604020202020204" pitchFamily="34" charset="0"/>
              <a:buNone/>
            </a:pPr>
            <a:r>
              <a:rPr lang="en-GB" sz="1400" b="1" dirty="0"/>
              <a:t>Automation and Scalability</a:t>
            </a:r>
          </a:p>
          <a:p>
            <a:pPr marL="0" lvl="1" indent="0">
              <a:buFont typeface="Arial" panose="020B0604020202020204" pitchFamily="34" charset="0"/>
              <a:buNone/>
            </a:pPr>
            <a:r>
              <a:rPr lang="en-GB" sz="1400" dirty="0" err="1"/>
              <a:t>Snakemake</a:t>
            </a:r>
            <a:r>
              <a:rPr lang="en-GB" sz="1400" dirty="0"/>
              <a:t> automates complex analysis tasks and scales efficiently across different computing platforms and research environments.</a:t>
            </a:r>
          </a:p>
        </p:txBody>
      </p:sp>
      <p:pic>
        <p:nvPicPr>
          <p:cNvPr id="1026" name="Picture 2" descr="Snakemake Pipelines | Chatomics">
            <a:extLst>
              <a:ext uri="{FF2B5EF4-FFF2-40B4-BE49-F238E27FC236}">
                <a16:creationId xmlns:a16="http://schemas.microsoft.com/office/drawing/2014/main" id="{CBED0FA9-A89F-D33D-70E2-44AAF9192D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5654" y="762001"/>
            <a:ext cx="5516688" cy="3625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114493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7F8A90-37F2-AF77-3C15-191F6B567B52}"/>
            </a:ext>
          </a:extLst>
        </p:cNvPr>
        <p:cNvGrpSpPr/>
        <p:nvPr/>
      </p:nvGrpSpPr>
      <p:grpSpPr>
        <a:xfrm>
          <a:off x="0" y="0"/>
          <a:ext cx="0" cy="0"/>
          <a:chOff x="0" y="0"/>
          <a:chExt cx="0" cy="0"/>
        </a:xfrm>
      </p:grpSpPr>
      <p:sp useBgFill="1">
        <p:nvSpPr>
          <p:cNvPr id="21" name="Slide Background">
            <a:extLst>
              <a:ext uri="{FF2B5EF4-FFF2-40B4-BE49-F238E27FC236}">
                <a16:creationId xmlns:a16="http://schemas.microsoft.com/office/drawing/2014/main" id="{55B94850-9EA1-B1A3-5008-6F9F1BEBE7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C78D00-A661-B732-4589-BB11211F7C0A}"/>
              </a:ext>
            </a:extLst>
          </p:cNvPr>
          <p:cNvSpPr>
            <a:spLocks noGrp="1"/>
          </p:cNvSpPr>
          <p:nvPr>
            <p:ph type="title"/>
          </p:nvPr>
        </p:nvSpPr>
        <p:spPr>
          <a:xfrm>
            <a:off x="761800" y="762001"/>
            <a:ext cx="5334197" cy="1708242"/>
          </a:xfrm>
        </p:spPr>
        <p:txBody>
          <a:bodyPr vert="horz" lIns="91440" tIns="45720" rIns="91440" bIns="45720" rtlCol="0" anchor="ctr">
            <a:normAutofit/>
          </a:bodyPr>
          <a:lstStyle/>
          <a:p>
            <a:r>
              <a:rPr lang="en-US" sz="4000" b="1" dirty="0" err="1"/>
              <a:t>Github</a:t>
            </a:r>
            <a:endParaRPr lang="en-US" sz="4000" b="1" dirty="0"/>
          </a:p>
        </p:txBody>
      </p:sp>
      <p:pic>
        <p:nvPicPr>
          <p:cNvPr id="7" name="Picture 6">
            <a:extLst>
              <a:ext uri="{FF2B5EF4-FFF2-40B4-BE49-F238E27FC236}">
                <a16:creationId xmlns:a16="http://schemas.microsoft.com/office/drawing/2014/main" id="{6851F9E5-E696-9B5B-6353-D7760C67C559}"/>
              </a:ext>
            </a:extLst>
          </p:cNvPr>
          <p:cNvPicPr>
            <a:picLocks noChangeAspect="1"/>
          </p:cNvPicPr>
          <p:nvPr/>
        </p:nvPicPr>
        <p:blipFill>
          <a:blip r:embed="rId3"/>
          <a:stretch>
            <a:fillRect/>
          </a:stretch>
        </p:blipFill>
        <p:spPr>
          <a:xfrm>
            <a:off x="6325648" y="2073114"/>
            <a:ext cx="5636700" cy="3390189"/>
          </a:xfrm>
          <a:prstGeom prst="rect">
            <a:avLst/>
          </a:prstGeom>
        </p:spPr>
      </p:pic>
      <p:sp>
        <p:nvSpPr>
          <p:cNvPr id="8" name="Content Placeholder 3">
            <a:extLst>
              <a:ext uri="{FF2B5EF4-FFF2-40B4-BE49-F238E27FC236}">
                <a16:creationId xmlns:a16="http://schemas.microsoft.com/office/drawing/2014/main" id="{1D87B20D-007B-9921-7BDA-4F1EC0117B3D}"/>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61800" y="2470244"/>
            <a:ext cx="5334197" cy="14076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2500"/>
              </a:spcBef>
              <a:buFont typeface="Arial" panose="020B0604020202020204" pitchFamily="34" charset="0"/>
              <a:buNone/>
            </a:pPr>
            <a:r>
              <a:rPr lang="en-GB" sz="1400" b="1" dirty="0"/>
              <a:t>Useful links, Checklist, Slides, Notebooks and Exercises are available at the link below:</a:t>
            </a:r>
          </a:p>
          <a:p>
            <a:pPr marL="0" indent="0">
              <a:spcBef>
                <a:spcPts val="2500"/>
              </a:spcBef>
              <a:buNone/>
            </a:pPr>
            <a:r>
              <a:rPr lang="en-GB" sz="1400" dirty="0"/>
              <a:t>- Git hub: </a:t>
            </a:r>
            <a:r>
              <a:rPr lang="en-GB" sz="1400" b="1" dirty="0">
                <a:hlinkClick r:id="rId4"/>
              </a:rPr>
              <a:t>https://github.com/JuanBSLeite/snakemake-training-2025#</a:t>
            </a:r>
            <a:r>
              <a:rPr lang="en-GB" sz="1400" b="1" dirty="0"/>
              <a:t> </a:t>
            </a:r>
          </a:p>
        </p:txBody>
      </p:sp>
      <p:pic>
        <p:nvPicPr>
          <p:cNvPr id="10" name="Picture 9">
            <a:extLst>
              <a:ext uri="{FF2B5EF4-FFF2-40B4-BE49-F238E27FC236}">
                <a16:creationId xmlns:a16="http://schemas.microsoft.com/office/drawing/2014/main" id="{0390BA1E-CAAB-5260-6111-E8E5FDC6F202}"/>
              </a:ext>
            </a:extLst>
          </p:cNvPr>
          <p:cNvPicPr>
            <a:picLocks noChangeAspect="1"/>
          </p:cNvPicPr>
          <p:nvPr/>
        </p:nvPicPr>
        <p:blipFill>
          <a:blip r:embed="rId5"/>
          <a:stretch>
            <a:fillRect/>
          </a:stretch>
        </p:blipFill>
        <p:spPr>
          <a:xfrm>
            <a:off x="1905525" y="4186840"/>
            <a:ext cx="2362199" cy="2362199"/>
          </a:xfrm>
          <a:prstGeom prst="rect">
            <a:avLst/>
          </a:prstGeom>
        </p:spPr>
      </p:pic>
    </p:spTree>
    <p:extLst>
      <p:ext uri="{BB962C8B-B14F-4D97-AF65-F5344CB8AC3E}">
        <p14:creationId xmlns:p14="http://schemas.microsoft.com/office/powerpoint/2010/main" val="242197547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7C8182-42E1-A075-E2D1-35B8051311B9}"/>
            </a:ext>
          </a:extLst>
        </p:cNvPr>
        <p:cNvGrpSpPr/>
        <p:nvPr/>
      </p:nvGrpSpPr>
      <p:grpSpPr>
        <a:xfrm>
          <a:off x="0" y="0"/>
          <a:ext cx="0" cy="0"/>
          <a:chOff x="0" y="0"/>
          <a:chExt cx="0" cy="0"/>
        </a:xfrm>
      </p:grpSpPr>
      <p:sp useBgFill="1">
        <p:nvSpPr>
          <p:cNvPr id="21" name="Slide Background">
            <a:extLst>
              <a:ext uri="{FF2B5EF4-FFF2-40B4-BE49-F238E27FC236}">
                <a16:creationId xmlns:a16="http://schemas.microsoft.com/office/drawing/2014/main" id="{827EBE0B-5460-45E7-482B-E8194CB11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4FF7DD-2E73-F020-1530-274F0543A790}"/>
              </a:ext>
            </a:extLst>
          </p:cNvPr>
          <p:cNvSpPr>
            <a:spLocks noGrp="1"/>
          </p:cNvSpPr>
          <p:nvPr>
            <p:ph type="title"/>
          </p:nvPr>
        </p:nvSpPr>
        <p:spPr>
          <a:xfrm>
            <a:off x="761800" y="762001"/>
            <a:ext cx="5747857" cy="1708242"/>
          </a:xfrm>
        </p:spPr>
        <p:txBody>
          <a:bodyPr vert="horz" lIns="91440" tIns="45720" rIns="91440" bIns="45720" rtlCol="0" anchor="ctr">
            <a:normAutofit fontScale="90000"/>
          </a:bodyPr>
          <a:lstStyle/>
          <a:p>
            <a:r>
              <a:rPr lang="en-GB" b="1" dirty="0"/>
              <a:t>Basics: An example workflow</a:t>
            </a:r>
            <a:br>
              <a:rPr lang="en-GB" b="1" dirty="0"/>
            </a:br>
            <a:endParaRPr lang="en-US" sz="4000" b="1" dirty="0"/>
          </a:p>
        </p:txBody>
      </p:sp>
      <p:sp>
        <p:nvSpPr>
          <p:cNvPr id="4" name="TextBox 3">
            <a:extLst>
              <a:ext uri="{FF2B5EF4-FFF2-40B4-BE49-F238E27FC236}">
                <a16:creationId xmlns:a16="http://schemas.microsoft.com/office/drawing/2014/main" id="{30024B78-FD4C-B5A9-321F-AC24A1D56474}"/>
              </a:ext>
            </a:extLst>
          </p:cNvPr>
          <p:cNvSpPr txBox="1"/>
          <p:nvPr/>
        </p:nvSpPr>
        <p:spPr>
          <a:xfrm>
            <a:off x="761800" y="2355081"/>
            <a:ext cx="4887886" cy="2585323"/>
          </a:xfrm>
          <a:prstGeom prst="rect">
            <a:avLst/>
          </a:prstGeom>
          <a:noFill/>
        </p:spPr>
        <p:txBody>
          <a:bodyPr wrap="square">
            <a:spAutoFit/>
          </a:bodyPr>
          <a:lstStyle/>
          <a:p>
            <a:pPr algn="just"/>
            <a:r>
              <a:rPr lang="en-GB" b="1" i="0" dirty="0">
                <a:solidFill>
                  <a:srgbClr val="0F172A"/>
                </a:solidFill>
                <a:effectLst/>
                <a:latin typeface="Aptos" panose="020B0004020202020204" pitchFamily="34" charset="0"/>
              </a:rPr>
              <a:t>A </a:t>
            </a:r>
            <a:r>
              <a:rPr lang="en-GB" b="1" i="0" dirty="0" err="1">
                <a:solidFill>
                  <a:srgbClr val="0F172A"/>
                </a:solidFill>
                <a:effectLst/>
                <a:latin typeface="Aptos" panose="020B0004020202020204" pitchFamily="34" charset="0"/>
              </a:rPr>
              <a:t>Snakemake</a:t>
            </a:r>
            <a:r>
              <a:rPr lang="en-GB" b="1" i="0" dirty="0">
                <a:solidFill>
                  <a:srgbClr val="0F172A"/>
                </a:solidFill>
                <a:effectLst/>
                <a:latin typeface="Aptos" panose="020B0004020202020204" pitchFamily="34" charset="0"/>
              </a:rPr>
              <a:t> workflow is defined by specifying rules in a </a:t>
            </a:r>
            <a:r>
              <a:rPr lang="en-GB" b="1" i="0" dirty="0" err="1">
                <a:solidFill>
                  <a:srgbClr val="0F172A"/>
                </a:solidFill>
                <a:effectLst/>
                <a:latin typeface="Aptos" panose="020B0004020202020204" pitchFamily="34" charset="0"/>
              </a:rPr>
              <a:t>Snakefile</a:t>
            </a:r>
            <a:r>
              <a:rPr lang="en-GB" b="0" i="0" u="none" strike="noStrike" dirty="0">
                <a:solidFill>
                  <a:srgbClr val="0F172A"/>
                </a:solidFill>
                <a:effectLst/>
                <a:latin typeface="Aptos" panose="020B0004020202020204" pitchFamily="34" charset="0"/>
              </a:rPr>
              <a:t>. </a:t>
            </a:r>
            <a:r>
              <a:rPr lang="en-GB" b="1" i="0" dirty="0">
                <a:solidFill>
                  <a:srgbClr val="0F172A"/>
                </a:solidFill>
                <a:effectLst/>
                <a:latin typeface="Aptos" panose="020B0004020202020204" pitchFamily="34" charset="0"/>
              </a:rPr>
              <a:t>Rules decompose the workflow into small steps</a:t>
            </a:r>
            <a:r>
              <a:rPr lang="en-GB" b="0" i="0" u="none" strike="noStrike" dirty="0">
                <a:solidFill>
                  <a:srgbClr val="0F172A"/>
                </a:solidFill>
                <a:effectLst/>
                <a:latin typeface="Aptos" panose="020B0004020202020204" pitchFamily="34" charset="0"/>
              </a:rPr>
              <a:t> (for example, the application of a single tool) by specifying how to create sets of </a:t>
            </a:r>
            <a:r>
              <a:rPr lang="en-GB" b="1" i="0" dirty="0">
                <a:solidFill>
                  <a:srgbClr val="0F172A"/>
                </a:solidFill>
                <a:effectLst/>
                <a:latin typeface="Aptos" panose="020B0004020202020204" pitchFamily="34" charset="0"/>
              </a:rPr>
              <a:t>output files</a:t>
            </a:r>
            <a:r>
              <a:rPr lang="en-GB" b="0" i="0" u="none" strike="noStrike" dirty="0">
                <a:solidFill>
                  <a:srgbClr val="0F172A"/>
                </a:solidFill>
                <a:effectLst/>
                <a:latin typeface="Aptos" panose="020B0004020202020204" pitchFamily="34" charset="0"/>
              </a:rPr>
              <a:t> from sets of </a:t>
            </a:r>
            <a:r>
              <a:rPr lang="en-GB" b="1" i="0" dirty="0">
                <a:solidFill>
                  <a:srgbClr val="0F172A"/>
                </a:solidFill>
                <a:effectLst/>
                <a:latin typeface="Aptos" panose="020B0004020202020204" pitchFamily="34" charset="0"/>
              </a:rPr>
              <a:t>input files</a:t>
            </a:r>
            <a:r>
              <a:rPr lang="en-GB" b="0" i="0" u="none" strike="noStrike" dirty="0">
                <a:solidFill>
                  <a:srgbClr val="0F172A"/>
                </a:solidFill>
                <a:effectLst/>
                <a:latin typeface="Aptos" panose="020B0004020202020204" pitchFamily="34" charset="0"/>
              </a:rPr>
              <a:t>. </a:t>
            </a:r>
            <a:r>
              <a:rPr lang="en-GB" b="0" i="0" u="none" strike="noStrike" dirty="0" err="1">
                <a:solidFill>
                  <a:srgbClr val="0F172A"/>
                </a:solidFill>
                <a:effectLst/>
                <a:latin typeface="Aptos" panose="020B0004020202020204" pitchFamily="34" charset="0"/>
              </a:rPr>
              <a:t>Snakemake</a:t>
            </a:r>
            <a:r>
              <a:rPr lang="en-GB" b="0" i="0" u="none" strike="noStrike" dirty="0">
                <a:solidFill>
                  <a:srgbClr val="0F172A"/>
                </a:solidFill>
                <a:effectLst/>
                <a:latin typeface="Aptos" panose="020B0004020202020204" pitchFamily="34" charset="0"/>
              </a:rPr>
              <a:t> automatically </a:t>
            </a:r>
            <a:r>
              <a:rPr lang="en-GB" b="1" i="0" dirty="0">
                <a:solidFill>
                  <a:srgbClr val="0F172A"/>
                </a:solidFill>
                <a:effectLst/>
                <a:latin typeface="Aptos" panose="020B0004020202020204" pitchFamily="34" charset="0"/>
              </a:rPr>
              <a:t>determines the dependencies</a:t>
            </a:r>
            <a:r>
              <a:rPr lang="en-GB" b="0" i="0" u="none" strike="noStrike" dirty="0">
                <a:solidFill>
                  <a:srgbClr val="0F172A"/>
                </a:solidFill>
                <a:effectLst/>
                <a:latin typeface="Aptos" panose="020B0004020202020204" pitchFamily="34" charset="0"/>
              </a:rPr>
              <a:t> between the rules by matching file names.</a:t>
            </a:r>
            <a:endParaRPr lang="en-GB" dirty="0">
              <a:latin typeface="Aptos" panose="020B0004020202020204" pitchFamily="34" charset="0"/>
            </a:endParaRPr>
          </a:p>
        </p:txBody>
      </p:sp>
      <p:sp>
        <p:nvSpPr>
          <p:cNvPr id="9" name="TextBox 8">
            <a:extLst>
              <a:ext uri="{FF2B5EF4-FFF2-40B4-BE49-F238E27FC236}">
                <a16:creationId xmlns:a16="http://schemas.microsoft.com/office/drawing/2014/main" id="{B6B19BBC-54A8-EB18-B6CA-6E8E8E7D698B}"/>
              </a:ext>
            </a:extLst>
          </p:cNvPr>
          <p:cNvSpPr txBox="1"/>
          <p:nvPr/>
        </p:nvSpPr>
        <p:spPr>
          <a:xfrm>
            <a:off x="7696199" y="1991716"/>
            <a:ext cx="4495801" cy="2308324"/>
          </a:xfrm>
          <a:prstGeom prst="rect">
            <a:avLst/>
          </a:prstGeom>
          <a:noFill/>
        </p:spPr>
        <p:txBody>
          <a:bodyPr wrap="square" rtlCol="0">
            <a:spAutoFit/>
          </a:bodyPr>
          <a:lstStyle/>
          <a:p>
            <a:r>
              <a:rPr lang="en-GB" dirty="0"/>
              <a:t>rule </a:t>
            </a:r>
            <a:r>
              <a:rPr lang="en-GB" dirty="0" err="1"/>
              <a:t>plotHistogram</a:t>
            </a:r>
            <a:r>
              <a:rPr lang="en-GB" dirty="0"/>
              <a:t>:</a:t>
            </a:r>
          </a:p>
          <a:p>
            <a:endParaRPr lang="en-GB" dirty="0"/>
          </a:p>
          <a:p>
            <a:pPr lvl="1"/>
            <a:r>
              <a:rPr lang="en-GB" dirty="0"/>
              <a:t>input: </a:t>
            </a:r>
          </a:p>
          <a:p>
            <a:pPr lvl="1"/>
            <a:r>
              <a:rPr lang="en-GB" dirty="0"/>
              <a:t>	“data/file1.root”,</a:t>
            </a:r>
          </a:p>
          <a:p>
            <a:pPr lvl="1"/>
            <a:r>
              <a:rPr lang="en-GB" dirty="0"/>
              <a:t>output:</a:t>
            </a:r>
          </a:p>
          <a:p>
            <a:pPr lvl="1"/>
            <a:r>
              <a:rPr lang="en-GB" dirty="0"/>
              <a:t>	“plot/file1.png”,</a:t>
            </a:r>
          </a:p>
          <a:p>
            <a:pPr lvl="1"/>
            <a:r>
              <a:rPr lang="en-GB" dirty="0"/>
              <a:t>shell:</a:t>
            </a:r>
          </a:p>
          <a:p>
            <a:pPr lvl="1"/>
            <a:r>
              <a:rPr lang="en-GB" dirty="0"/>
              <a:t>	“python </a:t>
            </a:r>
            <a:r>
              <a:rPr lang="en-GB" dirty="0" err="1"/>
              <a:t>plot.py</a:t>
            </a:r>
            <a:r>
              <a:rPr lang="en-GB" dirty="0"/>
              <a:t> {input} {output}”</a:t>
            </a:r>
          </a:p>
        </p:txBody>
      </p:sp>
      <p:sp>
        <p:nvSpPr>
          <p:cNvPr id="12" name="TextBox 11">
            <a:extLst>
              <a:ext uri="{FF2B5EF4-FFF2-40B4-BE49-F238E27FC236}">
                <a16:creationId xmlns:a16="http://schemas.microsoft.com/office/drawing/2014/main" id="{1C29170A-870C-3F21-104B-184F3EF28E0A}"/>
              </a:ext>
            </a:extLst>
          </p:cNvPr>
          <p:cNvSpPr txBox="1"/>
          <p:nvPr/>
        </p:nvSpPr>
        <p:spPr>
          <a:xfrm>
            <a:off x="5933668" y="5085466"/>
            <a:ext cx="6096000" cy="646331"/>
          </a:xfrm>
          <a:prstGeom prst="rect">
            <a:avLst/>
          </a:prstGeom>
          <a:noFill/>
        </p:spPr>
        <p:txBody>
          <a:bodyPr wrap="square">
            <a:spAutoFit/>
          </a:bodyPr>
          <a:lstStyle/>
          <a:p>
            <a:pPr algn="just"/>
            <a:r>
              <a:rPr lang="en-GB" b="0" i="0" u="none" strike="noStrike" dirty="0">
                <a:solidFill>
                  <a:srgbClr val="0F172A"/>
                </a:solidFill>
                <a:effectLst/>
                <a:latin typeface="Aptos" panose="020B0004020202020204" pitchFamily="34" charset="0"/>
              </a:rPr>
              <a:t>The </a:t>
            </a:r>
            <a:r>
              <a:rPr lang="en-GB" b="1" i="0" dirty="0">
                <a:solidFill>
                  <a:srgbClr val="0F172A"/>
                </a:solidFill>
                <a:effectLst/>
                <a:latin typeface="Aptos" panose="020B0004020202020204" pitchFamily="34" charset="0"/>
              </a:rPr>
              <a:t>input</a:t>
            </a:r>
            <a:r>
              <a:rPr lang="en-GB" b="0" i="0" u="none" strike="noStrike" dirty="0">
                <a:solidFill>
                  <a:srgbClr val="0F172A"/>
                </a:solidFill>
                <a:effectLst/>
                <a:latin typeface="Aptos" panose="020B0004020202020204" pitchFamily="34" charset="0"/>
              </a:rPr>
              <a:t> and </a:t>
            </a:r>
            <a:r>
              <a:rPr lang="en-GB" b="1" i="0" dirty="0">
                <a:solidFill>
                  <a:srgbClr val="0F172A"/>
                </a:solidFill>
                <a:effectLst/>
                <a:latin typeface="Aptos" panose="020B0004020202020204" pitchFamily="34" charset="0"/>
              </a:rPr>
              <a:t>output</a:t>
            </a:r>
            <a:r>
              <a:rPr lang="en-GB" b="0" i="0" u="none" strike="noStrike" dirty="0">
                <a:solidFill>
                  <a:srgbClr val="0F172A"/>
                </a:solidFill>
                <a:effectLst/>
                <a:latin typeface="Aptos" panose="020B0004020202020204" pitchFamily="34" charset="0"/>
              </a:rPr>
              <a:t> directives are followed by lists of files that are expected to be </a:t>
            </a:r>
            <a:r>
              <a:rPr lang="en-GB" b="0" i="1" dirty="0">
                <a:solidFill>
                  <a:srgbClr val="0F172A"/>
                </a:solidFill>
                <a:effectLst/>
                <a:latin typeface="Aptos" panose="020B0004020202020204" pitchFamily="34" charset="0"/>
              </a:rPr>
              <a:t>used</a:t>
            </a:r>
            <a:r>
              <a:rPr lang="en-GB" b="0" i="0" u="none" strike="noStrike" dirty="0">
                <a:solidFill>
                  <a:srgbClr val="0F172A"/>
                </a:solidFill>
                <a:effectLst/>
                <a:latin typeface="Aptos" panose="020B0004020202020204" pitchFamily="34" charset="0"/>
              </a:rPr>
              <a:t> or </a:t>
            </a:r>
            <a:r>
              <a:rPr lang="en-GB" b="0" i="1" dirty="0">
                <a:solidFill>
                  <a:srgbClr val="0F172A"/>
                </a:solidFill>
                <a:effectLst/>
                <a:latin typeface="Aptos" panose="020B0004020202020204" pitchFamily="34" charset="0"/>
              </a:rPr>
              <a:t>created</a:t>
            </a:r>
            <a:r>
              <a:rPr lang="en-GB" b="0" i="0" u="none" strike="noStrike" dirty="0">
                <a:solidFill>
                  <a:srgbClr val="0F172A"/>
                </a:solidFill>
                <a:effectLst/>
                <a:latin typeface="Aptos" panose="020B0004020202020204" pitchFamily="34" charset="0"/>
              </a:rPr>
              <a:t> by the rule.</a:t>
            </a:r>
            <a:endParaRPr lang="en-GB" dirty="0">
              <a:latin typeface="Aptos" panose="020B0004020202020204" pitchFamily="34" charset="0"/>
            </a:endParaRPr>
          </a:p>
        </p:txBody>
      </p:sp>
      <p:sp>
        <p:nvSpPr>
          <p:cNvPr id="14" name="TextBox 13">
            <a:extLst>
              <a:ext uri="{FF2B5EF4-FFF2-40B4-BE49-F238E27FC236}">
                <a16:creationId xmlns:a16="http://schemas.microsoft.com/office/drawing/2014/main" id="{23177659-8EFA-F6F3-6CD0-C3A623118571}"/>
              </a:ext>
            </a:extLst>
          </p:cNvPr>
          <p:cNvSpPr txBox="1"/>
          <p:nvPr/>
        </p:nvSpPr>
        <p:spPr>
          <a:xfrm>
            <a:off x="5933668" y="5893633"/>
            <a:ext cx="6096000" cy="646331"/>
          </a:xfrm>
          <a:prstGeom prst="rect">
            <a:avLst/>
          </a:prstGeom>
          <a:noFill/>
        </p:spPr>
        <p:txBody>
          <a:bodyPr wrap="square">
            <a:spAutoFit/>
          </a:bodyPr>
          <a:lstStyle/>
          <a:p>
            <a:pPr algn="just"/>
            <a:r>
              <a:rPr lang="en-GB" b="0" i="0" u="none" strike="noStrike" dirty="0">
                <a:solidFill>
                  <a:srgbClr val="0F172A"/>
                </a:solidFill>
                <a:effectLst/>
                <a:latin typeface="Aptos" panose="020B0004020202020204" pitchFamily="34" charset="0"/>
              </a:rPr>
              <a:t>The </a:t>
            </a:r>
            <a:r>
              <a:rPr lang="en-GB" b="1" i="0" dirty="0">
                <a:solidFill>
                  <a:srgbClr val="0F172A"/>
                </a:solidFill>
                <a:effectLst/>
                <a:latin typeface="Aptos" panose="020B0004020202020204" pitchFamily="34" charset="0"/>
              </a:rPr>
              <a:t>shell</a:t>
            </a:r>
            <a:r>
              <a:rPr lang="en-GB" b="0" i="0" u="none" strike="noStrike" dirty="0">
                <a:solidFill>
                  <a:srgbClr val="0F172A"/>
                </a:solidFill>
                <a:effectLst/>
                <a:latin typeface="Aptos" panose="020B0004020202020204" pitchFamily="34" charset="0"/>
              </a:rPr>
              <a:t> directive is followed by a string containing the shell command to execute. </a:t>
            </a:r>
            <a:endParaRPr lang="en-GB" dirty="0">
              <a:latin typeface="Aptos" panose="020B0004020202020204" pitchFamily="34" charset="0"/>
            </a:endParaRPr>
          </a:p>
        </p:txBody>
      </p:sp>
      <p:sp>
        <p:nvSpPr>
          <p:cNvPr id="15" name="TextBox 14">
            <a:extLst>
              <a:ext uri="{FF2B5EF4-FFF2-40B4-BE49-F238E27FC236}">
                <a16:creationId xmlns:a16="http://schemas.microsoft.com/office/drawing/2014/main" id="{8EEADE9A-41B9-C5D5-8917-ACD623285961}"/>
              </a:ext>
            </a:extLst>
          </p:cNvPr>
          <p:cNvSpPr txBox="1"/>
          <p:nvPr/>
        </p:nvSpPr>
        <p:spPr>
          <a:xfrm>
            <a:off x="1096179" y="5345204"/>
            <a:ext cx="3335016" cy="369332"/>
          </a:xfrm>
          <a:prstGeom prst="rect">
            <a:avLst/>
          </a:prstGeom>
          <a:noFill/>
        </p:spPr>
        <p:txBody>
          <a:bodyPr wrap="none" rtlCol="0">
            <a:spAutoFit/>
          </a:bodyPr>
          <a:lstStyle/>
          <a:p>
            <a:r>
              <a:rPr lang="en-GB" dirty="0"/>
              <a:t>$ </a:t>
            </a:r>
            <a:r>
              <a:rPr lang="en-GB" dirty="0" err="1"/>
              <a:t>snakemake</a:t>
            </a:r>
            <a:r>
              <a:rPr lang="en-GB" dirty="0"/>
              <a:t> -c1 </a:t>
            </a:r>
            <a:r>
              <a:rPr lang="en-GB" dirty="0" err="1"/>
              <a:t>plotHistogram</a:t>
            </a:r>
            <a:endParaRPr lang="en-GB" dirty="0"/>
          </a:p>
        </p:txBody>
      </p:sp>
      <p:sp>
        <p:nvSpPr>
          <p:cNvPr id="16" name="TextBox 15">
            <a:extLst>
              <a:ext uri="{FF2B5EF4-FFF2-40B4-BE49-F238E27FC236}">
                <a16:creationId xmlns:a16="http://schemas.microsoft.com/office/drawing/2014/main" id="{1040B59E-5154-2D64-7758-4FCDAF39AB5D}"/>
              </a:ext>
            </a:extLst>
          </p:cNvPr>
          <p:cNvSpPr txBox="1"/>
          <p:nvPr/>
        </p:nvSpPr>
        <p:spPr>
          <a:xfrm>
            <a:off x="6229896" y="808209"/>
            <a:ext cx="1097674" cy="369332"/>
          </a:xfrm>
          <a:prstGeom prst="rect">
            <a:avLst/>
          </a:prstGeom>
          <a:noFill/>
        </p:spPr>
        <p:txBody>
          <a:bodyPr wrap="square" rtlCol="0">
            <a:spAutoFit/>
          </a:bodyPr>
          <a:lstStyle/>
          <a:p>
            <a:r>
              <a:rPr lang="en-GB" dirty="0" err="1"/>
              <a:t>Workdir</a:t>
            </a:r>
            <a:r>
              <a:rPr lang="en-GB" dirty="0"/>
              <a:t>:</a:t>
            </a:r>
          </a:p>
        </p:txBody>
      </p:sp>
      <p:sp>
        <p:nvSpPr>
          <p:cNvPr id="17" name="TextBox 16">
            <a:extLst>
              <a:ext uri="{FF2B5EF4-FFF2-40B4-BE49-F238E27FC236}">
                <a16:creationId xmlns:a16="http://schemas.microsoft.com/office/drawing/2014/main" id="{CDB9DFC5-C4ED-D996-8B50-F5F8FED519C3}"/>
              </a:ext>
            </a:extLst>
          </p:cNvPr>
          <p:cNvSpPr txBox="1"/>
          <p:nvPr/>
        </p:nvSpPr>
        <p:spPr>
          <a:xfrm>
            <a:off x="7047323" y="1403203"/>
            <a:ext cx="1097673" cy="369332"/>
          </a:xfrm>
          <a:prstGeom prst="rect">
            <a:avLst/>
          </a:prstGeom>
          <a:noFill/>
        </p:spPr>
        <p:txBody>
          <a:bodyPr wrap="none" rtlCol="0">
            <a:spAutoFit/>
          </a:bodyPr>
          <a:lstStyle/>
          <a:p>
            <a:r>
              <a:rPr lang="en-GB" dirty="0" err="1"/>
              <a:t>Snakefile</a:t>
            </a:r>
            <a:endParaRPr lang="en-GB" dirty="0"/>
          </a:p>
        </p:txBody>
      </p:sp>
      <p:sp>
        <p:nvSpPr>
          <p:cNvPr id="18" name="Rectangle 17">
            <a:extLst>
              <a:ext uri="{FF2B5EF4-FFF2-40B4-BE49-F238E27FC236}">
                <a16:creationId xmlns:a16="http://schemas.microsoft.com/office/drawing/2014/main" id="{916ED0C9-BBFE-8D91-3B46-C9543ACDC148}"/>
              </a:ext>
            </a:extLst>
          </p:cNvPr>
          <p:cNvSpPr/>
          <p:nvPr/>
        </p:nvSpPr>
        <p:spPr>
          <a:xfrm>
            <a:off x="7696199" y="1893203"/>
            <a:ext cx="4333469" cy="2483288"/>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solidFill>
                  <a:schemeClr val="accent6">
                    <a:lumMod val="75000"/>
                  </a:schemeClr>
                </a:solidFill>
              </a:ln>
              <a:solidFill>
                <a:schemeClr val="accent6">
                  <a:lumMod val="75000"/>
                </a:schemeClr>
              </a:solidFill>
            </a:endParaRPr>
          </a:p>
        </p:txBody>
      </p:sp>
      <p:cxnSp>
        <p:nvCxnSpPr>
          <p:cNvPr id="20" name="Elbow Connector 19">
            <a:extLst>
              <a:ext uri="{FF2B5EF4-FFF2-40B4-BE49-F238E27FC236}">
                <a16:creationId xmlns:a16="http://schemas.microsoft.com/office/drawing/2014/main" id="{0AA41ADC-9D78-7767-D94B-461998735F09}"/>
              </a:ext>
            </a:extLst>
          </p:cNvPr>
          <p:cNvCxnSpPr>
            <a:cxnSpLocks/>
            <a:stCxn id="17" idx="2"/>
            <a:endCxn id="18" idx="1"/>
          </p:cNvCxnSpPr>
          <p:nvPr/>
        </p:nvCxnSpPr>
        <p:spPr>
          <a:xfrm rot="16200000" flipH="1">
            <a:off x="6965023" y="2403671"/>
            <a:ext cx="1362312" cy="100039"/>
          </a:xfrm>
          <a:prstGeom prst="bentConnector2">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3" name="Elbow Connector 22">
            <a:extLst>
              <a:ext uri="{FF2B5EF4-FFF2-40B4-BE49-F238E27FC236}">
                <a16:creationId xmlns:a16="http://schemas.microsoft.com/office/drawing/2014/main" id="{B5E0F1C5-618A-CC82-D2F2-E3F83800F72D}"/>
              </a:ext>
            </a:extLst>
          </p:cNvPr>
          <p:cNvCxnSpPr>
            <a:cxnSpLocks/>
            <a:stCxn id="16" idx="2"/>
            <a:endCxn id="17" idx="1"/>
          </p:cNvCxnSpPr>
          <p:nvPr/>
        </p:nvCxnSpPr>
        <p:spPr>
          <a:xfrm rot="16200000" flipH="1">
            <a:off x="6707864" y="1248410"/>
            <a:ext cx="410328" cy="268590"/>
          </a:xfrm>
          <a:prstGeom prst="bentConnector2">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BF42A09C-F688-4857-600C-B9BEC0EB6A94}"/>
              </a:ext>
            </a:extLst>
          </p:cNvPr>
          <p:cNvSpPr txBox="1"/>
          <p:nvPr/>
        </p:nvSpPr>
        <p:spPr>
          <a:xfrm>
            <a:off x="698325" y="6095999"/>
            <a:ext cx="2507418" cy="369332"/>
          </a:xfrm>
          <a:prstGeom prst="rect">
            <a:avLst/>
          </a:prstGeom>
          <a:noFill/>
        </p:spPr>
        <p:txBody>
          <a:bodyPr wrap="none" rtlCol="0">
            <a:spAutoFit/>
          </a:bodyPr>
          <a:lstStyle/>
          <a:p>
            <a:r>
              <a:rPr lang="en-GB" dirty="0"/>
              <a:t>-c is the number of jobs</a:t>
            </a:r>
          </a:p>
        </p:txBody>
      </p:sp>
    </p:spTree>
    <p:extLst>
      <p:ext uri="{BB962C8B-B14F-4D97-AF65-F5344CB8AC3E}">
        <p14:creationId xmlns:p14="http://schemas.microsoft.com/office/powerpoint/2010/main" val="410024092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036751-B9ED-023E-4462-E4774CA0CE8A}"/>
            </a:ext>
          </a:extLst>
        </p:cNvPr>
        <p:cNvGrpSpPr/>
        <p:nvPr/>
      </p:nvGrpSpPr>
      <p:grpSpPr>
        <a:xfrm>
          <a:off x="0" y="0"/>
          <a:ext cx="0" cy="0"/>
          <a:chOff x="0" y="0"/>
          <a:chExt cx="0" cy="0"/>
        </a:xfrm>
      </p:grpSpPr>
      <p:sp useBgFill="1">
        <p:nvSpPr>
          <p:cNvPr id="21" name="Slide Background">
            <a:extLst>
              <a:ext uri="{FF2B5EF4-FFF2-40B4-BE49-F238E27FC236}">
                <a16:creationId xmlns:a16="http://schemas.microsoft.com/office/drawing/2014/main" id="{BC9F3242-581B-58D6-BF06-F6BC982EDD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B10A08-7734-98FF-6C9B-294DF6D9C2CD}"/>
              </a:ext>
            </a:extLst>
          </p:cNvPr>
          <p:cNvSpPr>
            <a:spLocks noGrp="1"/>
          </p:cNvSpPr>
          <p:nvPr>
            <p:ph type="title"/>
          </p:nvPr>
        </p:nvSpPr>
        <p:spPr>
          <a:xfrm>
            <a:off x="761800" y="762001"/>
            <a:ext cx="5747857" cy="1708242"/>
          </a:xfrm>
        </p:spPr>
        <p:txBody>
          <a:bodyPr vert="horz" lIns="91440" tIns="45720" rIns="91440" bIns="45720" rtlCol="0" anchor="ctr">
            <a:normAutofit fontScale="90000"/>
          </a:bodyPr>
          <a:lstStyle/>
          <a:p>
            <a:r>
              <a:rPr lang="en-GB" b="1" dirty="0"/>
              <a:t>Generalizing rules</a:t>
            </a:r>
            <a:br>
              <a:rPr lang="en-GB" b="1" dirty="0"/>
            </a:br>
            <a:br>
              <a:rPr lang="en-GB" b="1" dirty="0"/>
            </a:br>
            <a:endParaRPr lang="en-US" sz="4000" b="1" dirty="0"/>
          </a:p>
        </p:txBody>
      </p:sp>
      <p:sp>
        <p:nvSpPr>
          <p:cNvPr id="4" name="TextBox 3">
            <a:extLst>
              <a:ext uri="{FF2B5EF4-FFF2-40B4-BE49-F238E27FC236}">
                <a16:creationId xmlns:a16="http://schemas.microsoft.com/office/drawing/2014/main" id="{76501AB9-0FD8-0B26-B728-B43740E647F5}"/>
              </a:ext>
            </a:extLst>
          </p:cNvPr>
          <p:cNvSpPr txBox="1"/>
          <p:nvPr/>
        </p:nvSpPr>
        <p:spPr>
          <a:xfrm>
            <a:off x="761799" y="1951672"/>
            <a:ext cx="4887887" cy="1477328"/>
          </a:xfrm>
          <a:prstGeom prst="rect">
            <a:avLst/>
          </a:prstGeom>
          <a:noFill/>
        </p:spPr>
        <p:txBody>
          <a:bodyPr wrap="square">
            <a:spAutoFit/>
          </a:bodyPr>
          <a:lstStyle/>
          <a:p>
            <a:pPr algn="just"/>
            <a:r>
              <a:rPr lang="en-GB" dirty="0" err="1"/>
              <a:t>Snakemake</a:t>
            </a:r>
            <a:r>
              <a:rPr lang="en-GB" dirty="0"/>
              <a:t> allows </a:t>
            </a:r>
            <a:r>
              <a:rPr lang="en-GB" b="1" dirty="0"/>
              <a:t>generalizing rules</a:t>
            </a:r>
            <a:r>
              <a:rPr lang="en-GB" dirty="0"/>
              <a:t> through the use of </a:t>
            </a:r>
            <a:r>
              <a:rPr lang="en-GB" b="1" dirty="0"/>
              <a:t>named wildcards. </a:t>
            </a:r>
          </a:p>
          <a:p>
            <a:pPr algn="just"/>
            <a:endParaRPr lang="en-GB" b="1" dirty="0"/>
          </a:p>
          <a:p>
            <a:pPr algn="just"/>
            <a:r>
              <a:rPr lang="en-GB" dirty="0"/>
              <a:t>Let’s replace file1 by the wildcard </a:t>
            </a:r>
            <a:r>
              <a:rPr lang="en-GB" b="1" dirty="0"/>
              <a:t>sample </a:t>
            </a:r>
            <a:r>
              <a:rPr lang="en-GB" dirty="0"/>
              <a:t>in the </a:t>
            </a:r>
            <a:r>
              <a:rPr lang="en-GB" b="1" dirty="0"/>
              <a:t>input</a:t>
            </a:r>
            <a:r>
              <a:rPr lang="en-GB" dirty="0"/>
              <a:t> and </a:t>
            </a:r>
            <a:r>
              <a:rPr lang="en-GB" b="1" dirty="0"/>
              <a:t>output</a:t>
            </a:r>
            <a:r>
              <a:rPr lang="en-GB" dirty="0"/>
              <a:t>.</a:t>
            </a:r>
            <a:endParaRPr lang="en-GB" dirty="0">
              <a:latin typeface="Aptos" panose="020B0004020202020204" pitchFamily="34" charset="0"/>
            </a:endParaRPr>
          </a:p>
        </p:txBody>
      </p:sp>
      <p:sp>
        <p:nvSpPr>
          <p:cNvPr id="9" name="TextBox 8">
            <a:extLst>
              <a:ext uri="{FF2B5EF4-FFF2-40B4-BE49-F238E27FC236}">
                <a16:creationId xmlns:a16="http://schemas.microsoft.com/office/drawing/2014/main" id="{10D40603-DF2F-4406-9687-9AB851765988}"/>
              </a:ext>
            </a:extLst>
          </p:cNvPr>
          <p:cNvSpPr txBox="1"/>
          <p:nvPr/>
        </p:nvSpPr>
        <p:spPr>
          <a:xfrm>
            <a:off x="7696199" y="1991716"/>
            <a:ext cx="4495801" cy="2308324"/>
          </a:xfrm>
          <a:prstGeom prst="rect">
            <a:avLst/>
          </a:prstGeom>
          <a:noFill/>
        </p:spPr>
        <p:txBody>
          <a:bodyPr wrap="square" rtlCol="0">
            <a:spAutoFit/>
          </a:bodyPr>
          <a:lstStyle/>
          <a:p>
            <a:r>
              <a:rPr lang="en-GB" dirty="0"/>
              <a:t>rule </a:t>
            </a:r>
            <a:r>
              <a:rPr lang="en-GB" dirty="0" err="1"/>
              <a:t>plotHistogram</a:t>
            </a:r>
            <a:r>
              <a:rPr lang="en-GB" dirty="0"/>
              <a:t>:</a:t>
            </a:r>
          </a:p>
          <a:p>
            <a:endParaRPr lang="en-GB" dirty="0"/>
          </a:p>
          <a:p>
            <a:pPr lvl="1"/>
            <a:r>
              <a:rPr lang="en-GB" dirty="0"/>
              <a:t>input: </a:t>
            </a:r>
          </a:p>
          <a:p>
            <a:pPr lvl="1"/>
            <a:r>
              <a:rPr lang="en-GB" dirty="0"/>
              <a:t>	“data/{sample}.root”,</a:t>
            </a:r>
          </a:p>
          <a:p>
            <a:pPr lvl="1"/>
            <a:r>
              <a:rPr lang="en-GB" dirty="0"/>
              <a:t>output:</a:t>
            </a:r>
          </a:p>
          <a:p>
            <a:pPr lvl="1"/>
            <a:r>
              <a:rPr lang="en-GB" dirty="0"/>
              <a:t>	“plot/{sample}.png”,</a:t>
            </a:r>
          </a:p>
          <a:p>
            <a:pPr lvl="1"/>
            <a:r>
              <a:rPr lang="en-GB" dirty="0"/>
              <a:t>shell:</a:t>
            </a:r>
          </a:p>
          <a:p>
            <a:pPr lvl="1"/>
            <a:r>
              <a:rPr lang="en-GB" dirty="0"/>
              <a:t>	“python </a:t>
            </a:r>
            <a:r>
              <a:rPr lang="en-GB" dirty="0" err="1"/>
              <a:t>plot.py</a:t>
            </a:r>
            <a:r>
              <a:rPr lang="en-GB" dirty="0"/>
              <a:t> {input} {output}”</a:t>
            </a:r>
          </a:p>
        </p:txBody>
      </p:sp>
      <p:sp>
        <p:nvSpPr>
          <p:cNvPr id="15" name="TextBox 14">
            <a:extLst>
              <a:ext uri="{FF2B5EF4-FFF2-40B4-BE49-F238E27FC236}">
                <a16:creationId xmlns:a16="http://schemas.microsoft.com/office/drawing/2014/main" id="{FFCF2D18-D3B5-3A2F-5CF5-BD3780956BE0}"/>
              </a:ext>
            </a:extLst>
          </p:cNvPr>
          <p:cNvSpPr txBox="1"/>
          <p:nvPr/>
        </p:nvSpPr>
        <p:spPr>
          <a:xfrm>
            <a:off x="8144996" y="4888497"/>
            <a:ext cx="3240567" cy="369332"/>
          </a:xfrm>
          <a:prstGeom prst="rect">
            <a:avLst/>
          </a:prstGeom>
          <a:noFill/>
        </p:spPr>
        <p:txBody>
          <a:bodyPr wrap="none" rtlCol="0">
            <a:spAutoFit/>
          </a:bodyPr>
          <a:lstStyle/>
          <a:p>
            <a:r>
              <a:rPr lang="en-GB" dirty="0"/>
              <a:t>$ </a:t>
            </a:r>
            <a:r>
              <a:rPr lang="en-GB" dirty="0" err="1"/>
              <a:t>snakemake</a:t>
            </a:r>
            <a:r>
              <a:rPr lang="en-GB" dirty="0"/>
              <a:t> -c1 plot/file1.png</a:t>
            </a:r>
          </a:p>
        </p:txBody>
      </p:sp>
      <p:sp>
        <p:nvSpPr>
          <p:cNvPr id="16" name="TextBox 15">
            <a:extLst>
              <a:ext uri="{FF2B5EF4-FFF2-40B4-BE49-F238E27FC236}">
                <a16:creationId xmlns:a16="http://schemas.microsoft.com/office/drawing/2014/main" id="{792F0374-5174-09FE-5D21-14D862C81A26}"/>
              </a:ext>
            </a:extLst>
          </p:cNvPr>
          <p:cNvSpPr txBox="1"/>
          <p:nvPr/>
        </p:nvSpPr>
        <p:spPr>
          <a:xfrm>
            <a:off x="6229896" y="808209"/>
            <a:ext cx="1097674" cy="369332"/>
          </a:xfrm>
          <a:prstGeom prst="rect">
            <a:avLst/>
          </a:prstGeom>
          <a:noFill/>
        </p:spPr>
        <p:txBody>
          <a:bodyPr wrap="square" rtlCol="0">
            <a:spAutoFit/>
          </a:bodyPr>
          <a:lstStyle/>
          <a:p>
            <a:r>
              <a:rPr lang="en-GB" dirty="0" err="1"/>
              <a:t>Workdir</a:t>
            </a:r>
            <a:r>
              <a:rPr lang="en-GB" dirty="0"/>
              <a:t>:</a:t>
            </a:r>
          </a:p>
        </p:txBody>
      </p:sp>
      <p:sp>
        <p:nvSpPr>
          <p:cNvPr id="17" name="TextBox 16">
            <a:extLst>
              <a:ext uri="{FF2B5EF4-FFF2-40B4-BE49-F238E27FC236}">
                <a16:creationId xmlns:a16="http://schemas.microsoft.com/office/drawing/2014/main" id="{FE2AEB9C-0F67-F74C-59E8-EC1DC3EDD310}"/>
              </a:ext>
            </a:extLst>
          </p:cNvPr>
          <p:cNvSpPr txBox="1"/>
          <p:nvPr/>
        </p:nvSpPr>
        <p:spPr>
          <a:xfrm>
            <a:off x="7047323" y="1403203"/>
            <a:ext cx="1097673" cy="369332"/>
          </a:xfrm>
          <a:prstGeom prst="rect">
            <a:avLst/>
          </a:prstGeom>
          <a:noFill/>
        </p:spPr>
        <p:txBody>
          <a:bodyPr wrap="none" rtlCol="0">
            <a:spAutoFit/>
          </a:bodyPr>
          <a:lstStyle/>
          <a:p>
            <a:r>
              <a:rPr lang="en-GB" dirty="0" err="1"/>
              <a:t>Snakefile</a:t>
            </a:r>
            <a:endParaRPr lang="en-GB" dirty="0"/>
          </a:p>
        </p:txBody>
      </p:sp>
      <p:sp>
        <p:nvSpPr>
          <p:cNvPr id="18" name="Rectangle 17">
            <a:extLst>
              <a:ext uri="{FF2B5EF4-FFF2-40B4-BE49-F238E27FC236}">
                <a16:creationId xmlns:a16="http://schemas.microsoft.com/office/drawing/2014/main" id="{89869D81-E1F8-A158-4B70-54520CB0C02B}"/>
              </a:ext>
            </a:extLst>
          </p:cNvPr>
          <p:cNvSpPr/>
          <p:nvPr/>
        </p:nvSpPr>
        <p:spPr>
          <a:xfrm>
            <a:off x="7696200" y="1893203"/>
            <a:ext cx="4321630" cy="2483288"/>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solidFill>
                  <a:schemeClr val="accent6">
                    <a:lumMod val="75000"/>
                  </a:schemeClr>
                </a:solidFill>
              </a:ln>
              <a:solidFill>
                <a:schemeClr val="accent6">
                  <a:lumMod val="75000"/>
                </a:schemeClr>
              </a:solidFill>
            </a:endParaRPr>
          </a:p>
        </p:txBody>
      </p:sp>
      <p:cxnSp>
        <p:nvCxnSpPr>
          <p:cNvPr id="20" name="Elbow Connector 19">
            <a:extLst>
              <a:ext uri="{FF2B5EF4-FFF2-40B4-BE49-F238E27FC236}">
                <a16:creationId xmlns:a16="http://schemas.microsoft.com/office/drawing/2014/main" id="{417D5BE3-CF88-7677-6C7A-7EE6E5C241F5}"/>
              </a:ext>
            </a:extLst>
          </p:cNvPr>
          <p:cNvCxnSpPr>
            <a:cxnSpLocks/>
            <a:stCxn id="17" idx="2"/>
            <a:endCxn id="18" idx="1"/>
          </p:cNvCxnSpPr>
          <p:nvPr/>
        </p:nvCxnSpPr>
        <p:spPr>
          <a:xfrm rot="16200000" flipH="1">
            <a:off x="6965024" y="2403671"/>
            <a:ext cx="1362312" cy="100040"/>
          </a:xfrm>
          <a:prstGeom prst="bentConnector2">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3" name="Elbow Connector 22">
            <a:extLst>
              <a:ext uri="{FF2B5EF4-FFF2-40B4-BE49-F238E27FC236}">
                <a16:creationId xmlns:a16="http://schemas.microsoft.com/office/drawing/2014/main" id="{A100231F-A204-7DBD-17A3-6F809D177F21}"/>
              </a:ext>
            </a:extLst>
          </p:cNvPr>
          <p:cNvCxnSpPr>
            <a:cxnSpLocks/>
            <a:stCxn id="16" idx="2"/>
            <a:endCxn id="17" idx="1"/>
          </p:cNvCxnSpPr>
          <p:nvPr/>
        </p:nvCxnSpPr>
        <p:spPr>
          <a:xfrm rot="16200000" flipH="1">
            <a:off x="6707864" y="1248410"/>
            <a:ext cx="410328" cy="268590"/>
          </a:xfrm>
          <a:prstGeom prst="bentConnector2">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17F64F71-C7B7-54EE-241A-BC1EF46E2C9D}"/>
              </a:ext>
            </a:extLst>
          </p:cNvPr>
          <p:cNvSpPr txBox="1"/>
          <p:nvPr/>
        </p:nvSpPr>
        <p:spPr>
          <a:xfrm>
            <a:off x="-3145971" y="-1948543"/>
            <a:ext cx="184731" cy="369332"/>
          </a:xfrm>
          <a:prstGeom prst="rect">
            <a:avLst/>
          </a:prstGeom>
          <a:noFill/>
        </p:spPr>
        <p:txBody>
          <a:bodyPr wrap="none" rtlCol="0">
            <a:spAutoFit/>
          </a:bodyPr>
          <a:lstStyle/>
          <a:p>
            <a:endParaRPr lang="en-GB" dirty="0"/>
          </a:p>
        </p:txBody>
      </p:sp>
      <p:sp>
        <p:nvSpPr>
          <p:cNvPr id="5" name="TextBox 4">
            <a:extLst>
              <a:ext uri="{FF2B5EF4-FFF2-40B4-BE49-F238E27FC236}">
                <a16:creationId xmlns:a16="http://schemas.microsoft.com/office/drawing/2014/main" id="{87E2BE13-EC43-4A32-1B2C-7DD08EBA5949}"/>
              </a:ext>
            </a:extLst>
          </p:cNvPr>
          <p:cNvSpPr txBox="1"/>
          <p:nvPr/>
        </p:nvSpPr>
        <p:spPr>
          <a:xfrm>
            <a:off x="761799" y="4057500"/>
            <a:ext cx="4887887" cy="1200329"/>
          </a:xfrm>
          <a:prstGeom prst="rect">
            <a:avLst/>
          </a:prstGeom>
          <a:noFill/>
          <a:ln>
            <a:solidFill>
              <a:schemeClr val="accent6">
                <a:lumMod val="75000"/>
              </a:schemeClr>
            </a:solidFill>
          </a:ln>
        </p:spPr>
        <p:txBody>
          <a:bodyPr wrap="square">
            <a:spAutoFit/>
          </a:bodyPr>
          <a:lstStyle/>
          <a:p>
            <a:r>
              <a:rPr lang="en-GB" b="0" i="0" u="none" strike="noStrike" dirty="0">
                <a:effectLst/>
                <a:latin typeface="ui-sans-serif"/>
              </a:rPr>
              <a:t>You can have multiple wildcards in your output and input file paths. However, to avoid conflicts with other jobs of the same rule, </a:t>
            </a:r>
            <a:r>
              <a:rPr lang="en-GB" b="1" i="0" dirty="0">
                <a:effectLst/>
                <a:latin typeface="ui-sans-serif"/>
              </a:rPr>
              <a:t>all output files</a:t>
            </a:r>
            <a:r>
              <a:rPr lang="en-GB" b="0" i="0" u="none" strike="noStrike" dirty="0">
                <a:effectLst/>
                <a:latin typeface="ui-sans-serif"/>
              </a:rPr>
              <a:t> of a rule have to contain </a:t>
            </a:r>
            <a:r>
              <a:rPr lang="en-GB" b="1" i="0" dirty="0">
                <a:effectLst/>
                <a:latin typeface="ui-sans-serif"/>
              </a:rPr>
              <a:t>exactly the same wildcards</a:t>
            </a:r>
            <a:r>
              <a:rPr lang="en-GB" b="0" i="0" u="none" strike="noStrike" dirty="0">
                <a:effectLst/>
                <a:latin typeface="ui-sans-serif"/>
              </a:rPr>
              <a:t>.</a:t>
            </a:r>
            <a:endParaRPr lang="en-GB" dirty="0"/>
          </a:p>
        </p:txBody>
      </p:sp>
      <p:sp>
        <p:nvSpPr>
          <p:cNvPr id="6" name="TextBox 5">
            <a:extLst>
              <a:ext uri="{FF2B5EF4-FFF2-40B4-BE49-F238E27FC236}">
                <a16:creationId xmlns:a16="http://schemas.microsoft.com/office/drawing/2014/main" id="{782CA7D8-965B-504C-164D-DBB1B138E97F}"/>
              </a:ext>
            </a:extLst>
          </p:cNvPr>
          <p:cNvSpPr txBox="1"/>
          <p:nvPr/>
        </p:nvSpPr>
        <p:spPr>
          <a:xfrm>
            <a:off x="761799" y="3671923"/>
            <a:ext cx="736548" cy="369332"/>
          </a:xfrm>
          <a:prstGeom prst="rect">
            <a:avLst/>
          </a:prstGeom>
          <a:noFill/>
        </p:spPr>
        <p:txBody>
          <a:bodyPr wrap="none" rtlCol="0">
            <a:spAutoFit/>
          </a:bodyPr>
          <a:lstStyle/>
          <a:p>
            <a:r>
              <a:rPr lang="en-GB" dirty="0"/>
              <a:t>Note:</a:t>
            </a:r>
          </a:p>
        </p:txBody>
      </p:sp>
      <p:sp>
        <p:nvSpPr>
          <p:cNvPr id="10" name="TextBox 9">
            <a:extLst>
              <a:ext uri="{FF2B5EF4-FFF2-40B4-BE49-F238E27FC236}">
                <a16:creationId xmlns:a16="http://schemas.microsoft.com/office/drawing/2014/main" id="{03D71036-326B-594E-EE4A-E1FF0D68C372}"/>
              </a:ext>
            </a:extLst>
          </p:cNvPr>
          <p:cNvSpPr txBox="1"/>
          <p:nvPr/>
        </p:nvSpPr>
        <p:spPr>
          <a:xfrm>
            <a:off x="3461657" y="5758580"/>
            <a:ext cx="8556173" cy="923330"/>
          </a:xfrm>
          <a:prstGeom prst="rect">
            <a:avLst/>
          </a:prstGeom>
          <a:noFill/>
          <a:ln>
            <a:solidFill>
              <a:schemeClr val="accent6">
                <a:lumMod val="75000"/>
              </a:schemeClr>
            </a:solidFill>
          </a:ln>
        </p:spPr>
        <p:txBody>
          <a:bodyPr wrap="square">
            <a:spAutoFit/>
          </a:bodyPr>
          <a:lstStyle/>
          <a:p>
            <a:r>
              <a:rPr lang="en-GB" b="0" i="0" u="none" strike="noStrike" dirty="0">
                <a:solidFill>
                  <a:srgbClr val="0F172A"/>
                </a:solidFill>
                <a:effectLst/>
                <a:latin typeface="Aptos" panose="020B0004020202020204" pitchFamily="34" charset="0"/>
              </a:rPr>
              <a:t>When </a:t>
            </a:r>
            <a:r>
              <a:rPr lang="en-GB" b="0" i="0" u="none" strike="noStrike" dirty="0" err="1">
                <a:solidFill>
                  <a:srgbClr val="0F172A"/>
                </a:solidFill>
                <a:effectLst/>
                <a:latin typeface="Aptos" panose="020B0004020202020204" pitchFamily="34" charset="0"/>
              </a:rPr>
              <a:t>Snakemake</a:t>
            </a:r>
            <a:r>
              <a:rPr lang="en-GB" b="0" i="0" u="none" strike="noStrike" dirty="0">
                <a:solidFill>
                  <a:srgbClr val="0F172A"/>
                </a:solidFill>
                <a:effectLst/>
                <a:latin typeface="Aptos" panose="020B0004020202020204" pitchFamily="34" charset="0"/>
              </a:rPr>
              <a:t> determines that this rule can be applied to generate a target file, it will propagate that value to all occurrences of the </a:t>
            </a:r>
            <a:r>
              <a:rPr lang="en-GB" b="0" i="0" dirty="0">
                <a:solidFill>
                  <a:srgbClr val="0F172A"/>
                </a:solidFill>
                <a:effectLst/>
                <a:latin typeface="Aptos" panose="020B0004020202020204" pitchFamily="34" charset="0"/>
              </a:rPr>
              <a:t>{sample}</a:t>
            </a:r>
            <a:r>
              <a:rPr lang="en-GB" b="0" i="0" u="none" strike="noStrike" dirty="0">
                <a:solidFill>
                  <a:srgbClr val="0F172A"/>
                </a:solidFill>
                <a:effectLst/>
                <a:latin typeface="Aptos" panose="020B0004020202020204" pitchFamily="34" charset="0"/>
              </a:rPr>
              <a:t> wildcard in that rule, thereby determining the necessary input files for the resulting job.</a:t>
            </a:r>
            <a:endParaRPr lang="en-GB" dirty="0">
              <a:latin typeface="Aptos" panose="020B0004020202020204" pitchFamily="34" charset="0"/>
            </a:endParaRPr>
          </a:p>
        </p:txBody>
      </p:sp>
    </p:spTree>
    <p:extLst>
      <p:ext uri="{BB962C8B-B14F-4D97-AF65-F5344CB8AC3E}">
        <p14:creationId xmlns:p14="http://schemas.microsoft.com/office/powerpoint/2010/main" val="279957297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4172F4-57E4-1219-A243-318418956235}"/>
            </a:ext>
          </a:extLst>
        </p:cNvPr>
        <p:cNvGrpSpPr/>
        <p:nvPr/>
      </p:nvGrpSpPr>
      <p:grpSpPr>
        <a:xfrm>
          <a:off x="0" y="0"/>
          <a:ext cx="0" cy="0"/>
          <a:chOff x="0" y="0"/>
          <a:chExt cx="0" cy="0"/>
        </a:xfrm>
      </p:grpSpPr>
      <p:sp useBgFill="1">
        <p:nvSpPr>
          <p:cNvPr id="21" name="Slide Background">
            <a:extLst>
              <a:ext uri="{FF2B5EF4-FFF2-40B4-BE49-F238E27FC236}">
                <a16:creationId xmlns:a16="http://schemas.microsoft.com/office/drawing/2014/main" id="{8444AA8F-4F98-34D8-A3CD-8227F9430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C575D0-02FA-85B3-0D3E-5643EFCD8958}"/>
              </a:ext>
            </a:extLst>
          </p:cNvPr>
          <p:cNvSpPr>
            <a:spLocks noGrp="1"/>
          </p:cNvSpPr>
          <p:nvPr>
            <p:ph type="title"/>
          </p:nvPr>
        </p:nvSpPr>
        <p:spPr>
          <a:xfrm>
            <a:off x="761800" y="762001"/>
            <a:ext cx="5747857" cy="1708242"/>
          </a:xfrm>
        </p:spPr>
        <p:txBody>
          <a:bodyPr vert="horz" lIns="91440" tIns="45720" rIns="91440" bIns="45720" rtlCol="0" anchor="ctr">
            <a:normAutofit fontScale="90000"/>
          </a:bodyPr>
          <a:lstStyle/>
          <a:p>
            <a:r>
              <a:rPr lang="en-GB" b="1" dirty="0"/>
              <a:t>Aggregating Inputs</a:t>
            </a:r>
            <a:br>
              <a:rPr lang="en-GB" b="1" dirty="0"/>
            </a:br>
            <a:br>
              <a:rPr lang="en-GB" b="1" dirty="0"/>
            </a:br>
            <a:endParaRPr lang="en-US" sz="4000" b="1" dirty="0"/>
          </a:p>
        </p:txBody>
      </p:sp>
      <p:sp>
        <p:nvSpPr>
          <p:cNvPr id="4" name="TextBox 3">
            <a:extLst>
              <a:ext uri="{FF2B5EF4-FFF2-40B4-BE49-F238E27FC236}">
                <a16:creationId xmlns:a16="http://schemas.microsoft.com/office/drawing/2014/main" id="{6D67B27E-275E-04A0-5FB8-A34689DB7344}"/>
              </a:ext>
            </a:extLst>
          </p:cNvPr>
          <p:cNvSpPr txBox="1"/>
          <p:nvPr/>
        </p:nvSpPr>
        <p:spPr>
          <a:xfrm>
            <a:off x="761799" y="1951672"/>
            <a:ext cx="4887887" cy="923330"/>
          </a:xfrm>
          <a:prstGeom prst="rect">
            <a:avLst/>
          </a:prstGeom>
          <a:noFill/>
        </p:spPr>
        <p:txBody>
          <a:bodyPr wrap="square">
            <a:spAutoFit/>
          </a:bodyPr>
          <a:lstStyle/>
          <a:p>
            <a:pPr algn="just"/>
            <a:r>
              <a:rPr lang="en-GB" dirty="0" err="1"/>
              <a:t>Snakemake</a:t>
            </a:r>
            <a:r>
              <a:rPr lang="en-GB" dirty="0"/>
              <a:t> provides a </a:t>
            </a:r>
            <a:r>
              <a:rPr lang="en-GB" b="1" dirty="0"/>
              <a:t>helper function for collecting input files</a:t>
            </a:r>
            <a:r>
              <a:rPr lang="en-GB" dirty="0"/>
              <a:t> that helps us to describe aggregations.</a:t>
            </a:r>
            <a:endParaRPr lang="en-GB" dirty="0">
              <a:latin typeface="Aptos" panose="020B0004020202020204" pitchFamily="34" charset="0"/>
            </a:endParaRPr>
          </a:p>
        </p:txBody>
      </p:sp>
      <p:sp>
        <p:nvSpPr>
          <p:cNvPr id="9" name="TextBox 8">
            <a:extLst>
              <a:ext uri="{FF2B5EF4-FFF2-40B4-BE49-F238E27FC236}">
                <a16:creationId xmlns:a16="http://schemas.microsoft.com/office/drawing/2014/main" id="{542EE2F0-7B26-ADBB-D5A5-5521D19378D3}"/>
              </a:ext>
            </a:extLst>
          </p:cNvPr>
          <p:cNvSpPr txBox="1"/>
          <p:nvPr/>
        </p:nvSpPr>
        <p:spPr>
          <a:xfrm>
            <a:off x="6868887" y="1991716"/>
            <a:ext cx="5323114" cy="3693319"/>
          </a:xfrm>
          <a:prstGeom prst="rect">
            <a:avLst/>
          </a:prstGeom>
          <a:noFill/>
        </p:spPr>
        <p:txBody>
          <a:bodyPr wrap="square" rtlCol="0">
            <a:spAutoFit/>
          </a:bodyPr>
          <a:lstStyle/>
          <a:p>
            <a:r>
              <a:rPr lang="en-GB" dirty="0"/>
              <a:t>samples = ["file1", "file2"]</a:t>
            </a:r>
          </a:p>
          <a:p>
            <a:endParaRPr lang="en-GB" dirty="0"/>
          </a:p>
          <a:p>
            <a:r>
              <a:rPr lang="en-GB" dirty="0"/>
              <a:t>rule all:</a:t>
            </a:r>
          </a:p>
          <a:p>
            <a:r>
              <a:rPr lang="en-GB" dirty="0"/>
              <a:t>    input:</a:t>
            </a:r>
          </a:p>
          <a:p>
            <a:r>
              <a:rPr lang="en-GB" dirty="0"/>
              <a:t>        expand("plot/{sample}.</a:t>
            </a:r>
            <a:r>
              <a:rPr lang="en-GB" dirty="0" err="1"/>
              <a:t>png</a:t>
            </a:r>
            <a:r>
              <a:rPr lang="en-GB" dirty="0"/>
              <a:t>", sample=samples)</a:t>
            </a:r>
          </a:p>
          <a:p>
            <a:endParaRPr lang="en-GB" dirty="0"/>
          </a:p>
          <a:p>
            <a:r>
              <a:rPr lang="en-GB" dirty="0"/>
              <a:t>rule </a:t>
            </a:r>
            <a:r>
              <a:rPr lang="en-GB" dirty="0" err="1"/>
              <a:t>plotHistogram</a:t>
            </a:r>
            <a:r>
              <a:rPr lang="en-GB" dirty="0"/>
              <a:t>:</a:t>
            </a:r>
          </a:p>
          <a:p>
            <a:r>
              <a:rPr lang="en-GB" dirty="0"/>
              <a:t>    input:</a:t>
            </a:r>
          </a:p>
          <a:p>
            <a:r>
              <a:rPr lang="en-GB" dirty="0"/>
              <a:t>        "data/{sample}.root"</a:t>
            </a:r>
          </a:p>
          <a:p>
            <a:r>
              <a:rPr lang="en-GB" dirty="0"/>
              <a:t>    output:</a:t>
            </a:r>
          </a:p>
          <a:p>
            <a:r>
              <a:rPr lang="en-GB" dirty="0"/>
              <a:t>        "plot/{sample}.</a:t>
            </a:r>
            <a:r>
              <a:rPr lang="en-GB" dirty="0" err="1"/>
              <a:t>png</a:t>
            </a:r>
            <a:r>
              <a:rPr lang="en-GB" dirty="0"/>
              <a:t>"</a:t>
            </a:r>
          </a:p>
          <a:p>
            <a:r>
              <a:rPr lang="en-GB" dirty="0"/>
              <a:t>    shell:</a:t>
            </a:r>
          </a:p>
          <a:p>
            <a:r>
              <a:rPr lang="en-GB" dirty="0"/>
              <a:t>        "python </a:t>
            </a:r>
            <a:r>
              <a:rPr lang="en-GB" dirty="0" err="1"/>
              <a:t>plot.py</a:t>
            </a:r>
            <a:r>
              <a:rPr lang="en-GB" dirty="0"/>
              <a:t> {input} {output}"</a:t>
            </a:r>
          </a:p>
        </p:txBody>
      </p:sp>
      <p:sp>
        <p:nvSpPr>
          <p:cNvPr id="15" name="TextBox 14">
            <a:extLst>
              <a:ext uri="{FF2B5EF4-FFF2-40B4-BE49-F238E27FC236}">
                <a16:creationId xmlns:a16="http://schemas.microsoft.com/office/drawing/2014/main" id="{A85EC3F9-54F0-3AD4-2564-73AC53DA0899}"/>
              </a:ext>
            </a:extLst>
          </p:cNvPr>
          <p:cNvSpPr txBox="1"/>
          <p:nvPr/>
        </p:nvSpPr>
        <p:spPr>
          <a:xfrm>
            <a:off x="6747560" y="5966153"/>
            <a:ext cx="2153346" cy="369332"/>
          </a:xfrm>
          <a:prstGeom prst="rect">
            <a:avLst/>
          </a:prstGeom>
          <a:noFill/>
        </p:spPr>
        <p:txBody>
          <a:bodyPr wrap="none" rtlCol="0">
            <a:spAutoFit/>
          </a:bodyPr>
          <a:lstStyle/>
          <a:p>
            <a:r>
              <a:rPr lang="en-GB" dirty="0"/>
              <a:t>$ </a:t>
            </a:r>
            <a:r>
              <a:rPr lang="en-GB" dirty="0" err="1"/>
              <a:t>snakemake</a:t>
            </a:r>
            <a:r>
              <a:rPr lang="en-GB" dirty="0"/>
              <a:t> -c1 all</a:t>
            </a:r>
          </a:p>
        </p:txBody>
      </p:sp>
      <p:sp>
        <p:nvSpPr>
          <p:cNvPr id="16" name="TextBox 15">
            <a:extLst>
              <a:ext uri="{FF2B5EF4-FFF2-40B4-BE49-F238E27FC236}">
                <a16:creationId xmlns:a16="http://schemas.microsoft.com/office/drawing/2014/main" id="{4688350E-0D92-456E-A40F-8278C5DB004C}"/>
              </a:ext>
            </a:extLst>
          </p:cNvPr>
          <p:cNvSpPr txBox="1"/>
          <p:nvPr/>
        </p:nvSpPr>
        <p:spPr>
          <a:xfrm>
            <a:off x="6229896" y="808209"/>
            <a:ext cx="1097674" cy="369332"/>
          </a:xfrm>
          <a:prstGeom prst="rect">
            <a:avLst/>
          </a:prstGeom>
          <a:noFill/>
        </p:spPr>
        <p:txBody>
          <a:bodyPr wrap="square" rtlCol="0">
            <a:spAutoFit/>
          </a:bodyPr>
          <a:lstStyle/>
          <a:p>
            <a:r>
              <a:rPr lang="en-GB" dirty="0" err="1"/>
              <a:t>Workdir</a:t>
            </a:r>
            <a:r>
              <a:rPr lang="en-GB" dirty="0"/>
              <a:t>:</a:t>
            </a:r>
          </a:p>
        </p:txBody>
      </p:sp>
      <p:sp>
        <p:nvSpPr>
          <p:cNvPr id="17" name="TextBox 16">
            <a:extLst>
              <a:ext uri="{FF2B5EF4-FFF2-40B4-BE49-F238E27FC236}">
                <a16:creationId xmlns:a16="http://schemas.microsoft.com/office/drawing/2014/main" id="{71E50F8D-DDA8-BD62-6CCF-607D9345518D}"/>
              </a:ext>
            </a:extLst>
          </p:cNvPr>
          <p:cNvSpPr txBox="1"/>
          <p:nvPr/>
        </p:nvSpPr>
        <p:spPr>
          <a:xfrm>
            <a:off x="7047323" y="1403203"/>
            <a:ext cx="1097673" cy="369332"/>
          </a:xfrm>
          <a:prstGeom prst="rect">
            <a:avLst/>
          </a:prstGeom>
          <a:noFill/>
        </p:spPr>
        <p:txBody>
          <a:bodyPr wrap="none" rtlCol="0">
            <a:spAutoFit/>
          </a:bodyPr>
          <a:lstStyle/>
          <a:p>
            <a:r>
              <a:rPr lang="en-GB" dirty="0" err="1"/>
              <a:t>Snakefile</a:t>
            </a:r>
            <a:endParaRPr lang="en-GB" dirty="0"/>
          </a:p>
        </p:txBody>
      </p:sp>
      <p:sp>
        <p:nvSpPr>
          <p:cNvPr id="18" name="Rectangle 17">
            <a:extLst>
              <a:ext uri="{FF2B5EF4-FFF2-40B4-BE49-F238E27FC236}">
                <a16:creationId xmlns:a16="http://schemas.microsoft.com/office/drawing/2014/main" id="{B8A53AD7-C791-53E3-9D60-E823F4B57183}"/>
              </a:ext>
            </a:extLst>
          </p:cNvPr>
          <p:cNvSpPr/>
          <p:nvPr/>
        </p:nvSpPr>
        <p:spPr>
          <a:xfrm>
            <a:off x="6778733" y="1893202"/>
            <a:ext cx="5239097" cy="3919769"/>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solidFill>
                  <a:schemeClr val="accent6">
                    <a:lumMod val="75000"/>
                  </a:schemeClr>
                </a:solidFill>
              </a:ln>
              <a:solidFill>
                <a:schemeClr val="accent6">
                  <a:lumMod val="75000"/>
                </a:schemeClr>
              </a:solidFill>
            </a:endParaRPr>
          </a:p>
        </p:txBody>
      </p:sp>
      <p:cxnSp>
        <p:nvCxnSpPr>
          <p:cNvPr id="20" name="Elbow Connector 19">
            <a:extLst>
              <a:ext uri="{FF2B5EF4-FFF2-40B4-BE49-F238E27FC236}">
                <a16:creationId xmlns:a16="http://schemas.microsoft.com/office/drawing/2014/main" id="{6B19AB21-417E-7760-3441-EFE8FDCF8118}"/>
              </a:ext>
            </a:extLst>
          </p:cNvPr>
          <p:cNvCxnSpPr>
            <a:cxnSpLocks/>
            <a:stCxn id="17" idx="2"/>
            <a:endCxn id="18" idx="1"/>
          </p:cNvCxnSpPr>
          <p:nvPr/>
        </p:nvCxnSpPr>
        <p:spPr>
          <a:xfrm rot="5400000">
            <a:off x="6147171" y="2404098"/>
            <a:ext cx="2080552" cy="817427"/>
          </a:xfrm>
          <a:prstGeom prst="bentConnector4">
            <a:avLst>
              <a:gd name="adj1" fmla="val 2900"/>
              <a:gd name="adj2" fmla="val 127966"/>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3" name="Elbow Connector 22">
            <a:extLst>
              <a:ext uri="{FF2B5EF4-FFF2-40B4-BE49-F238E27FC236}">
                <a16:creationId xmlns:a16="http://schemas.microsoft.com/office/drawing/2014/main" id="{BD710EF5-A206-5345-C503-A539FA9650ED}"/>
              </a:ext>
            </a:extLst>
          </p:cNvPr>
          <p:cNvCxnSpPr>
            <a:cxnSpLocks/>
            <a:stCxn id="16" idx="2"/>
            <a:endCxn id="17" idx="1"/>
          </p:cNvCxnSpPr>
          <p:nvPr/>
        </p:nvCxnSpPr>
        <p:spPr>
          <a:xfrm rot="16200000" flipH="1">
            <a:off x="6707864" y="1248410"/>
            <a:ext cx="410328" cy="268590"/>
          </a:xfrm>
          <a:prstGeom prst="bentConnector2">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8CCDEDB4-F2BB-AA83-FA6D-9767B63E9FC6}"/>
              </a:ext>
            </a:extLst>
          </p:cNvPr>
          <p:cNvSpPr txBox="1"/>
          <p:nvPr/>
        </p:nvSpPr>
        <p:spPr>
          <a:xfrm>
            <a:off x="-3145971" y="-1948543"/>
            <a:ext cx="184731" cy="369332"/>
          </a:xfrm>
          <a:prstGeom prst="rect">
            <a:avLst/>
          </a:prstGeom>
          <a:noFill/>
        </p:spPr>
        <p:txBody>
          <a:bodyPr wrap="none" rtlCol="0">
            <a:spAutoFit/>
          </a:bodyPr>
          <a:lstStyle/>
          <a:p>
            <a:endParaRPr lang="en-GB" dirty="0"/>
          </a:p>
        </p:txBody>
      </p:sp>
      <p:sp>
        <p:nvSpPr>
          <p:cNvPr id="13" name="TextBox 12">
            <a:extLst>
              <a:ext uri="{FF2B5EF4-FFF2-40B4-BE49-F238E27FC236}">
                <a16:creationId xmlns:a16="http://schemas.microsoft.com/office/drawing/2014/main" id="{A9CBE2E5-9E3C-6768-3975-D876EFAC76AE}"/>
              </a:ext>
            </a:extLst>
          </p:cNvPr>
          <p:cNvSpPr txBox="1"/>
          <p:nvPr/>
        </p:nvSpPr>
        <p:spPr>
          <a:xfrm>
            <a:off x="859971" y="3429001"/>
            <a:ext cx="4789715" cy="923330"/>
          </a:xfrm>
          <a:prstGeom prst="rect">
            <a:avLst/>
          </a:prstGeom>
          <a:noFill/>
        </p:spPr>
        <p:txBody>
          <a:bodyPr wrap="square" rtlCol="0">
            <a:spAutoFit/>
          </a:bodyPr>
          <a:lstStyle/>
          <a:p>
            <a:pPr marL="285750" indent="-285750">
              <a:buFont typeface="Arial" panose="020B0604020202020204" pitchFamily="34" charset="0"/>
              <a:buChar char="•"/>
            </a:pPr>
            <a:r>
              <a:rPr lang="en-GB" dirty="0"/>
              <a:t>rule all is the top-level rule.</a:t>
            </a:r>
          </a:p>
          <a:p>
            <a:pPr marL="285750" indent="-285750">
              <a:buFont typeface="Arial" panose="020B0604020202020204" pitchFamily="34" charset="0"/>
              <a:buChar char="•"/>
            </a:pPr>
            <a:r>
              <a:rPr lang="en-GB" dirty="0"/>
              <a:t>expand() is a helper function that generates a list of filenames from a pattern.</a:t>
            </a:r>
          </a:p>
        </p:txBody>
      </p:sp>
    </p:spTree>
    <p:extLst>
      <p:ext uri="{BB962C8B-B14F-4D97-AF65-F5344CB8AC3E}">
        <p14:creationId xmlns:p14="http://schemas.microsoft.com/office/powerpoint/2010/main" val="295789875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1A1EA1-6057-8790-13A2-B6AD8084A391}"/>
            </a:ext>
          </a:extLst>
        </p:cNvPr>
        <p:cNvGrpSpPr/>
        <p:nvPr/>
      </p:nvGrpSpPr>
      <p:grpSpPr>
        <a:xfrm>
          <a:off x="0" y="0"/>
          <a:ext cx="0" cy="0"/>
          <a:chOff x="0" y="0"/>
          <a:chExt cx="0" cy="0"/>
        </a:xfrm>
      </p:grpSpPr>
      <p:sp useBgFill="1">
        <p:nvSpPr>
          <p:cNvPr id="21" name="Slide Background">
            <a:extLst>
              <a:ext uri="{FF2B5EF4-FFF2-40B4-BE49-F238E27FC236}">
                <a16:creationId xmlns:a16="http://schemas.microsoft.com/office/drawing/2014/main" id="{4E3D85AE-CF5A-6BDE-A78E-CCE134BF6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508D74-6145-1930-9E80-1EDC95804A9A}"/>
              </a:ext>
            </a:extLst>
          </p:cNvPr>
          <p:cNvSpPr>
            <a:spLocks noGrp="1"/>
          </p:cNvSpPr>
          <p:nvPr>
            <p:ph type="title"/>
          </p:nvPr>
        </p:nvSpPr>
        <p:spPr>
          <a:xfrm>
            <a:off x="761800" y="762001"/>
            <a:ext cx="5747857" cy="1708242"/>
          </a:xfrm>
        </p:spPr>
        <p:txBody>
          <a:bodyPr vert="horz" lIns="91440" tIns="45720" rIns="91440" bIns="45720" rtlCol="0" anchor="ctr">
            <a:normAutofit fontScale="90000"/>
          </a:bodyPr>
          <a:lstStyle/>
          <a:p>
            <a:r>
              <a:rPr lang="en-GB" b="1" dirty="0"/>
              <a:t>Aggregating Inputs II</a:t>
            </a:r>
            <a:br>
              <a:rPr lang="en-GB" b="1" dirty="0"/>
            </a:br>
            <a:br>
              <a:rPr lang="en-GB" b="1" dirty="0"/>
            </a:br>
            <a:endParaRPr lang="en-US" sz="4000" b="1" dirty="0"/>
          </a:p>
        </p:txBody>
      </p:sp>
      <p:sp>
        <p:nvSpPr>
          <p:cNvPr id="4" name="TextBox 3">
            <a:extLst>
              <a:ext uri="{FF2B5EF4-FFF2-40B4-BE49-F238E27FC236}">
                <a16:creationId xmlns:a16="http://schemas.microsoft.com/office/drawing/2014/main" id="{BB2B614C-C51A-8E79-9B83-A116F76B9D60}"/>
              </a:ext>
            </a:extLst>
          </p:cNvPr>
          <p:cNvSpPr txBox="1"/>
          <p:nvPr/>
        </p:nvSpPr>
        <p:spPr>
          <a:xfrm>
            <a:off x="271942" y="2150701"/>
            <a:ext cx="4887887" cy="923330"/>
          </a:xfrm>
          <a:prstGeom prst="rect">
            <a:avLst/>
          </a:prstGeom>
          <a:noFill/>
        </p:spPr>
        <p:txBody>
          <a:bodyPr wrap="square">
            <a:spAutoFit/>
          </a:bodyPr>
          <a:lstStyle/>
          <a:p>
            <a:pPr algn="just"/>
            <a:r>
              <a:rPr lang="en-GB" dirty="0">
                <a:latin typeface="Aptos" panose="020B0004020202020204" pitchFamily="34" charset="0"/>
              </a:rPr>
              <a:t>It is also possible to expand multiple wildcards.</a:t>
            </a:r>
          </a:p>
          <a:p>
            <a:pPr algn="just"/>
            <a:endParaRPr lang="en-GB" dirty="0">
              <a:latin typeface="Aptos" panose="020B0004020202020204" pitchFamily="34" charset="0"/>
            </a:endParaRPr>
          </a:p>
          <a:p>
            <a:pPr algn="just"/>
            <a:r>
              <a:rPr lang="en-GB" b="1" dirty="0"/>
              <a:t>zip</a:t>
            </a:r>
            <a:r>
              <a:rPr lang="en-GB" dirty="0"/>
              <a:t> pair elements together position-by-position.</a:t>
            </a:r>
          </a:p>
        </p:txBody>
      </p:sp>
      <p:sp>
        <p:nvSpPr>
          <p:cNvPr id="9" name="TextBox 8">
            <a:extLst>
              <a:ext uri="{FF2B5EF4-FFF2-40B4-BE49-F238E27FC236}">
                <a16:creationId xmlns:a16="http://schemas.microsoft.com/office/drawing/2014/main" id="{CD1F84D8-A5EB-C791-6A7E-99810DEA428F}"/>
              </a:ext>
            </a:extLst>
          </p:cNvPr>
          <p:cNvSpPr txBox="1"/>
          <p:nvPr/>
        </p:nvSpPr>
        <p:spPr>
          <a:xfrm>
            <a:off x="5649688" y="1941670"/>
            <a:ext cx="6727370" cy="3970318"/>
          </a:xfrm>
          <a:prstGeom prst="rect">
            <a:avLst/>
          </a:prstGeom>
          <a:noFill/>
        </p:spPr>
        <p:txBody>
          <a:bodyPr wrap="square" rtlCol="0">
            <a:spAutoFit/>
          </a:bodyPr>
          <a:lstStyle/>
          <a:p>
            <a:r>
              <a:rPr lang="en-GB" dirty="0"/>
              <a:t>samples = ["file1", "file2"]</a:t>
            </a:r>
          </a:p>
          <a:p>
            <a:r>
              <a:rPr lang="en-GB" dirty="0" err="1"/>
              <a:t>exts</a:t>
            </a:r>
            <a:r>
              <a:rPr lang="en-GB" dirty="0"/>
              <a:t> = [“root”, “</a:t>
            </a:r>
            <a:r>
              <a:rPr lang="en-GB" dirty="0" err="1"/>
              <a:t>png</a:t>
            </a:r>
            <a:r>
              <a:rPr lang="en-GB" dirty="0"/>
              <a:t>”]</a:t>
            </a:r>
          </a:p>
          <a:p>
            <a:endParaRPr lang="en-GB" dirty="0"/>
          </a:p>
          <a:p>
            <a:r>
              <a:rPr lang="en-GB" dirty="0"/>
              <a:t>rule all:</a:t>
            </a:r>
          </a:p>
          <a:p>
            <a:r>
              <a:rPr lang="en-GB" dirty="0"/>
              <a:t>    input:</a:t>
            </a:r>
          </a:p>
          <a:p>
            <a:r>
              <a:rPr lang="en-GB" dirty="0"/>
              <a:t>        expand("plot/{sample}.{</a:t>
            </a:r>
            <a:r>
              <a:rPr lang="en-GB" dirty="0" err="1"/>
              <a:t>ext</a:t>
            </a:r>
            <a:r>
              <a:rPr lang="en-GB" dirty="0"/>
              <a:t>}", zip, sample=samples, </a:t>
            </a:r>
            <a:r>
              <a:rPr lang="en-GB" dirty="0" err="1"/>
              <a:t>ext</a:t>
            </a:r>
            <a:r>
              <a:rPr lang="en-GB" dirty="0"/>
              <a:t>=</a:t>
            </a:r>
            <a:r>
              <a:rPr lang="en-GB" dirty="0" err="1"/>
              <a:t>exts</a:t>
            </a:r>
            <a:r>
              <a:rPr lang="en-GB" dirty="0"/>
              <a:t>)</a:t>
            </a:r>
          </a:p>
          <a:p>
            <a:endParaRPr lang="en-GB" dirty="0"/>
          </a:p>
          <a:p>
            <a:r>
              <a:rPr lang="en-GB" dirty="0"/>
              <a:t>rule </a:t>
            </a:r>
            <a:r>
              <a:rPr lang="en-GB" dirty="0" err="1"/>
              <a:t>plotHistogram</a:t>
            </a:r>
            <a:r>
              <a:rPr lang="en-GB" dirty="0"/>
              <a:t>:</a:t>
            </a:r>
          </a:p>
          <a:p>
            <a:r>
              <a:rPr lang="en-GB" dirty="0"/>
              <a:t>    input:</a:t>
            </a:r>
          </a:p>
          <a:p>
            <a:r>
              <a:rPr lang="en-GB" dirty="0"/>
              <a:t>        "data/{sample}.root"</a:t>
            </a:r>
          </a:p>
          <a:p>
            <a:r>
              <a:rPr lang="en-GB" dirty="0"/>
              <a:t>    output:</a:t>
            </a:r>
          </a:p>
          <a:p>
            <a:r>
              <a:rPr lang="en-GB" dirty="0"/>
              <a:t>        "plot/{sample}.{</a:t>
            </a:r>
            <a:r>
              <a:rPr lang="en-GB" dirty="0" err="1"/>
              <a:t>ext</a:t>
            </a:r>
            <a:r>
              <a:rPr lang="en-GB" dirty="0"/>
              <a:t>}"</a:t>
            </a:r>
          </a:p>
          <a:p>
            <a:r>
              <a:rPr lang="en-GB" dirty="0"/>
              <a:t>    shell:</a:t>
            </a:r>
          </a:p>
          <a:p>
            <a:r>
              <a:rPr lang="en-GB" dirty="0"/>
              <a:t>        "python </a:t>
            </a:r>
            <a:r>
              <a:rPr lang="en-GB" dirty="0" err="1"/>
              <a:t>plot.py</a:t>
            </a:r>
            <a:r>
              <a:rPr lang="en-GB" dirty="0"/>
              <a:t> {input} {output}"</a:t>
            </a:r>
          </a:p>
        </p:txBody>
      </p:sp>
      <p:sp>
        <p:nvSpPr>
          <p:cNvPr id="15" name="TextBox 14">
            <a:extLst>
              <a:ext uri="{FF2B5EF4-FFF2-40B4-BE49-F238E27FC236}">
                <a16:creationId xmlns:a16="http://schemas.microsoft.com/office/drawing/2014/main" id="{794C9097-A91E-7F3E-A0D0-073FD4C30A37}"/>
              </a:ext>
            </a:extLst>
          </p:cNvPr>
          <p:cNvSpPr txBox="1"/>
          <p:nvPr/>
        </p:nvSpPr>
        <p:spPr>
          <a:xfrm>
            <a:off x="5442813" y="6200328"/>
            <a:ext cx="2153346" cy="369332"/>
          </a:xfrm>
          <a:prstGeom prst="rect">
            <a:avLst/>
          </a:prstGeom>
          <a:noFill/>
        </p:spPr>
        <p:txBody>
          <a:bodyPr wrap="none" rtlCol="0">
            <a:spAutoFit/>
          </a:bodyPr>
          <a:lstStyle/>
          <a:p>
            <a:r>
              <a:rPr lang="en-GB" dirty="0"/>
              <a:t>$ </a:t>
            </a:r>
            <a:r>
              <a:rPr lang="en-GB" dirty="0" err="1"/>
              <a:t>snakemake</a:t>
            </a:r>
            <a:r>
              <a:rPr lang="en-GB" dirty="0"/>
              <a:t> -c1 all</a:t>
            </a:r>
          </a:p>
        </p:txBody>
      </p:sp>
      <p:sp>
        <p:nvSpPr>
          <p:cNvPr id="16" name="TextBox 15">
            <a:extLst>
              <a:ext uri="{FF2B5EF4-FFF2-40B4-BE49-F238E27FC236}">
                <a16:creationId xmlns:a16="http://schemas.microsoft.com/office/drawing/2014/main" id="{8108B155-49FA-9EA4-6F72-E464B3218A55}"/>
              </a:ext>
            </a:extLst>
          </p:cNvPr>
          <p:cNvSpPr txBox="1"/>
          <p:nvPr/>
        </p:nvSpPr>
        <p:spPr>
          <a:xfrm>
            <a:off x="6229896" y="808209"/>
            <a:ext cx="1097674" cy="369332"/>
          </a:xfrm>
          <a:prstGeom prst="rect">
            <a:avLst/>
          </a:prstGeom>
          <a:noFill/>
        </p:spPr>
        <p:txBody>
          <a:bodyPr wrap="square" rtlCol="0">
            <a:spAutoFit/>
          </a:bodyPr>
          <a:lstStyle/>
          <a:p>
            <a:r>
              <a:rPr lang="en-GB" dirty="0" err="1"/>
              <a:t>Workdir</a:t>
            </a:r>
            <a:r>
              <a:rPr lang="en-GB" dirty="0"/>
              <a:t>:</a:t>
            </a:r>
          </a:p>
        </p:txBody>
      </p:sp>
      <p:sp>
        <p:nvSpPr>
          <p:cNvPr id="17" name="TextBox 16">
            <a:extLst>
              <a:ext uri="{FF2B5EF4-FFF2-40B4-BE49-F238E27FC236}">
                <a16:creationId xmlns:a16="http://schemas.microsoft.com/office/drawing/2014/main" id="{BD787F95-30B2-C9EC-BE53-BE631669C1D4}"/>
              </a:ext>
            </a:extLst>
          </p:cNvPr>
          <p:cNvSpPr txBox="1"/>
          <p:nvPr/>
        </p:nvSpPr>
        <p:spPr>
          <a:xfrm>
            <a:off x="7047323" y="1403203"/>
            <a:ext cx="1097673" cy="369332"/>
          </a:xfrm>
          <a:prstGeom prst="rect">
            <a:avLst/>
          </a:prstGeom>
          <a:noFill/>
        </p:spPr>
        <p:txBody>
          <a:bodyPr wrap="none" rtlCol="0">
            <a:spAutoFit/>
          </a:bodyPr>
          <a:lstStyle/>
          <a:p>
            <a:r>
              <a:rPr lang="en-GB" dirty="0" err="1"/>
              <a:t>Snakefile</a:t>
            </a:r>
            <a:endParaRPr lang="en-GB" dirty="0"/>
          </a:p>
        </p:txBody>
      </p:sp>
      <p:sp>
        <p:nvSpPr>
          <p:cNvPr id="18" name="Rectangle 17">
            <a:extLst>
              <a:ext uri="{FF2B5EF4-FFF2-40B4-BE49-F238E27FC236}">
                <a16:creationId xmlns:a16="http://schemas.microsoft.com/office/drawing/2014/main" id="{AA8F8ADC-CE98-EF3D-F60C-972A9F35155E}"/>
              </a:ext>
            </a:extLst>
          </p:cNvPr>
          <p:cNvSpPr/>
          <p:nvPr/>
        </p:nvSpPr>
        <p:spPr>
          <a:xfrm>
            <a:off x="5529944" y="1893202"/>
            <a:ext cx="6574970" cy="4156589"/>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solidFill>
                  <a:schemeClr val="accent6">
                    <a:lumMod val="75000"/>
                  </a:schemeClr>
                </a:solidFill>
              </a:ln>
              <a:solidFill>
                <a:schemeClr val="accent6">
                  <a:lumMod val="75000"/>
                </a:schemeClr>
              </a:solidFill>
            </a:endParaRPr>
          </a:p>
        </p:txBody>
      </p:sp>
      <p:cxnSp>
        <p:nvCxnSpPr>
          <p:cNvPr id="20" name="Elbow Connector 19">
            <a:extLst>
              <a:ext uri="{FF2B5EF4-FFF2-40B4-BE49-F238E27FC236}">
                <a16:creationId xmlns:a16="http://schemas.microsoft.com/office/drawing/2014/main" id="{56802A4F-5ED0-CDDF-4504-BC73669D71DC}"/>
              </a:ext>
            </a:extLst>
          </p:cNvPr>
          <p:cNvCxnSpPr>
            <a:cxnSpLocks/>
            <a:stCxn id="17" idx="2"/>
            <a:endCxn id="18" idx="1"/>
          </p:cNvCxnSpPr>
          <p:nvPr/>
        </p:nvCxnSpPr>
        <p:spPr>
          <a:xfrm rot="5400000">
            <a:off x="5463571" y="1838908"/>
            <a:ext cx="2198962" cy="2066216"/>
          </a:xfrm>
          <a:prstGeom prst="bentConnector4">
            <a:avLst>
              <a:gd name="adj1" fmla="val 2744"/>
              <a:gd name="adj2" fmla="val 111064"/>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3" name="Elbow Connector 22">
            <a:extLst>
              <a:ext uri="{FF2B5EF4-FFF2-40B4-BE49-F238E27FC236}">
                <a16:creationId xmlns:a16="http://schemas.microsoft.com/office/drawing/2014/main" id="{BE0B0CF7-2A06-4A3F-43F8-93E4E0AC5A84}"/>
              </a:ext>
            </a:extLst>
          </p:cNvPr>
          <p:cNvCxnSpPr>
            <a:cxnSpLocks/>
            <a:stCxn id="16" idx="2"/>
            <a:endCxn id="17" idx="1"/>
          </p:cNvCxnSpPr>
          <p:nvPr/>
        </p:nvCxnSpPr>
        <p:spPr>
          <a:xfrm rot="16200000" flipH="1">
            <a:off x="6707864" y="1248410"/>
            <a:ext cx="410328" cy="268590"/>
          </a:xfrm>
          <a:prstGeom prst="bentConnector2">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56047F8D-E25D-1AE0-AE9A-AFF559ECECEB}"/>
              </a:ext>
            </a:extLst>
          </p:cNvPr>
          <p:cNvSpPr txBox="1"/>
          <p:nvPr/>
        </p:nvSpPr>
        <p:spPr>
          <a:xfrm>
            <a:off x="-3145971" y="-1948543"/>
            <a:ext cx="184731" cy="369332"/>
          </a:xfrm>
          <a:prstGeom prst="rect">
            <a:avLst/>
          </a:prstGeom>
          <a:noFill/>
        </p:spPr>
        <p:txBody>
          <a:bodyPr wrap="none" rtlCol="0">
            <a:spAutoFit/>
          </a:bodyPr>
          <a:lstStyle/>
          <a:p>
            <a:endParaRPr lang="en-GB" dirty="0"/>
          </a:p>
        </p:txBody>
      </p:sp>
      <p:sp>
        <p:nvSpPr>
          <p:cNvPr id="8" name="TextBox 7">
            <a:extLst>
              <a:ext uri="{FF2B5EF4-FFF2-40B4-BE49-F238E27FC236}">
                <a16:creationId xmlns:a16="http://schemas.microsoft.com/office/drawing/2014/main" id="{CA98CB55-AB9F-63A5-2454-DBDC927BD8BB}"/>
              </a:ext>
            </a:extLst>
          </p:cNvPr>
          <p:cNvSpPr txBox="1"/>
          <p:nvPr/>
        </p:nvSpPr>
        <p:spPr>
          <a:xfrm>
            <a:off x="642257" y="3755571"/>
            <a:ext cx="2765565" cy="1754326"/>
          </a:xfrm>
          <a:prstGeom prst="rect">
            <a:avLst/>
          </a:prstGeom>
          <a:noFill/>
        </p:spPr>
        <p:txBody>
          <a:bodyPr wrap="none" rtlCol="0">
            <a:spAutoFit/>
          </a:bodyPr>
          <a:lstStyle/>
          <a:p>
            <a:r>
              <a:rPr lang="en-GB" dirty="0"/>
              <a:t>[</a:t>
            </a:r>
          </a:p>
          <a:p>
            <a:r>
              <a:rPr lang="en-GB" dirty="0"/>
              <a:t>	“plot/file1.root”,</a:t>
            </a:r>
          </a:p>
          <a:p>
            <a:r>
              <a:rPr lang="en-GB" dirty="0"/>
              <a:t>	“plot/ file1.png”,</a:t>
            </a:r>
          </a:p>
          <a:p>
            <a:r>
              <a:rPr lang="en-GB" dirty="0"/>
              <a:t>	“plot/ file2.root”,</a:t>
            </a:r>
          </a:p>
          <a:p>
            <a:r>
              <a:rPr lang="en-GB" dirty="0"/>
              <a:t>	“plot/ file2.png”,</a:t>
            </a:r>
          </a:p>
          <a:p>
            <a:r>
              <a:rPr lang="en-GB" dirty="0"/>
              <a:t>]</a:t>
            </a:r>
          </a:p>
        </p:txBody>
      </p:sp>
    </p:spTree>
    <p:extLst>
      <p:ext uri="{BB962C8B-B14F-4D97-AF65-F5344CB8AC3E}">
        <p14:creationId xmlns:p14="http://schemas.microsoft.com/office/powerpoint/2010/main" val="234890913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4FB31A-52BF-0457-BE80-4C8A662C0AAD}"/>
            </a:ext>
          </a:extLst>
        </p:cNvPr>
        <p:cNvGrpSpPr/>
        <p:nvPr/>
      </p:nvGrpSpPr>
      <p:grpSpPr>
        <a:xfrm>
          <a:off x="0" y="0"/>
          <a:ext cx="0" cy="0"/>
          <a:chOff x="0" y="0"/>
          <a:chExt cx="0" cy="0"/>
        </a:xfrm>
      </p:grpSpPr>
      <p:sp useBgFill="1">
        <p:nvSpPr>
          <p:cNvPr id="21" name="Slide Background">
            <a:extLst>
              <a:ext uri="{FF2B5EF4-FFF2-40B4-BE49-F238E27FC236}">
                <a16:creationId xmlns:a16="http://schemas.microsoft.com/office/drawing/2014/main" id="{CAA9C531-CF17-C5A2-880A-93882EFEE2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80916E-E660-7428-9079-02CAE1E3B0AD}"/>
              </a:ext>
            </a:extLst>
          </p:cNvPr>
          <p:cNvSpPr>
            <a:spLocks noGrp="1"/>
          </p:cNvSpPr>
          <p:nvPr>
            <p:ph type="title"/>
          </p:nvPr>
        </p:nvSpPr>
        <p:spPr>
          <a:xfrm>
            <a:off x="761800" y="762001"/>
            <a:ext cx="5747857" cy="1708242"/>
          </a:xfrm>
        </p:spPr>
        <p:txBody>
          <a:bodyPr vert="horz" lIns="91440" tIns="45720" rIns="91440" bIns="45720" rtlCol="0" anchor="ctr">
            <a:normAutofit fontScale="90000"/>
          </a:bodyPr>
          <a:lstStyle/>
          <a:p>
            <a:r>
              <a:rPr lang="en-GB" b="1" dirty="0"/>
              <a:t>Aggregating Inputs III</a:t>
            </a:r>
            <a:br>
              <a:rPr lang="en-GB" b="1" dirty="0"/>
            </a:br>
            <a:br>
              <a:rPr lang="en-GB" b="1" dirty="0"/>
            </a:br>
            <a:endParaRPr lang="en-US" sz="4000" b="1" dirty="0"/>
          </a:p>
        </p:txBody>
      </p:sp>
      <p:sp>
        <p:nvSpPr>
          <p:cNvPr id="4" name="TextBox 3">
            <a:extLst>
              <a:ext uri="{FF2B5EF4-FFF2-40B4-BE49-F238E27FC236}">
                <a16:creationId xmlns:a16="http://schemas.microsoft.com/office/drawing/2014/main" id="{264917E3-96C1-10D2-F033-C972B792BB3F}"/>
              </a:ext>
            </a:extLst>
          </p:cNvPr>
          <p:cNvSpPr txBox="1"/>
          <p:nvPr/>
        </p:nvSpPr>
        <p:spPr>
          <a:xfrm>
            <a:off x="271942" y="2150701"/>
            <a:ext cx="4887887" cy="646331"/>
          </a:xfrm>
          <a:prstGeom prst="rect">
            <a:avLst/>
          </a:prstGeom>
          <a:noFill/>
        </p:spPr>
        <p:txBody>
          <a:bodyPr wrap="square">
            <a:spAutoFit/>
          </a:bodyPr>
          <a:lstStyle/>
          <a:p>
            <a:pPr algn="just"/>
            <a:r>
              <a:rPr lang="en-GB" dirty="0"/>
              <a:t>We can also build complex output patterns using for loops:</a:t>
            </a:r>
            <a:endParaRPr lang="en-GB" dirty="0">
              <a:latin typeface="Aptos" panose="020B0004020202020204" pitchFamily="34" charset="0"/>
            </a:endParaRPr>
          </a:p>
        </p:txBody>
      </p:sp>
      <p:sp>
        <p:nvSpPr>
          <p:cNvPr id="9" name="TextBox 8">
            <a:extLst>
              <a:ext uri="{FF2B5EF4-FFF2-40B4-BE49-F238E27FC236}">
                <a16:creationId xmlns:a16="http://schemas.microsoft.com/office/drawing/2014/main" id="{3424B85D-EB95-31F6-EDE4-22B2B317D796}"/>
              </a:ext>
            </a:extLst>
          </p:cNvPr>
          <p:cNvSpPr txBox="1"/>
          <p:nvPr/>
        </p:nvSpPr>
        <p:spPr>
          <a:xfrm>
            <a:off x="5529944" y="2470243"/>
            <a:ext cx="6727370" cy="3139321"/>
          </a:xfrm>
          <a:prstGeom prst="rect">
            <a:avLst/>
          </a:prstGeom>
          <a:noFill/>
        </p:spPr>
        <p:txBody>
          <a:bodyPr wrap="square" rtlCol="0">
            <a:spAutoFit/>
          </a:bodyPr>
          <a:lstStyle/>
          <a:p>
            <a:r>
              <a:rPr lang="en-GB" dirty="0"/>
              <a:t>rule all:</a:t>
            </a:r>
          </a:p>
          <a:p>
            <a:r>
              <a:rPr lang="en-GB" dirty="0"/>
              <a:t>    input:</a:t>
            </a:r>
          </a:p>
          <a:p>
            <a:r>
              <a:rPr lang="en-GB" dirty="0"/>
              <a:t>        expand("plot/{sample}.{</a:t>
            </a:r>
            <a:r>
              <a:rPr lang="en-GB" dirty="0" err="1"/>
              <a:t>ext</a:t>
            </a:r>
            <a:r>
              <a:rPr lang="en-GB" dirty="0"/>
              <a:t>}", zip, sample=samples, </a:t>
            </a:r>
            <a:r>
              <a:rPr lang="en-GB" dirty="0" err="1"/>
              <a:t>ext</a:t>
            </a:r>
            <a:r>
              <a:rPr lang="en-GB" dirty="0"/>
              <a:t>=</a:t>
            </a:r>
            <a:r>
              <a:rPr lang="en-GB" dirty="0" err="1"/>
              <a:t>exts</a:t>
            </a:r>
            <a:r>
              <a:rPr lang="en-GB" dirty="0"/>
              <a:t>)</a:t>
            </a:r>
          </a:p>
          <a:p>
            <a:endParaRPr lang="en-GB" dirty="0"/>
          </a:p>
          <a:p>
            <a:r>
              <a:rPr lang="en-GB" dirty="0"/>
              <a:t>rule </a:t>
            </a:r>
            <a:r>
              <a:rPr lang="en-GB" dirty="0" err="1"/>
              <a:t>plotHistogram</a:t>
            </a:r>
            <a:r>
              <a:rPr lang="en-GB" dirty="0"/>
              <a:t>:</a:t>
            </a:r>
          </a:p>
          <a:p>
            <a:r>
              <a:rPr lang="en-GB" dirty="0"/>
              <a:t>    input:</a:t>
            </a:r>
          </a:p>
          <a:p>
            <a:r>
              <a:rPr lang="en-GB" dirty="0"/>
              <a:t>        "data/{sample}.root"</a:t>
            </a:r>
          </a:p>
          <a:p>
            <a:r>
              <a:rPr lang="en-GB" dirty="0"/>
              <a:t>    output:</a:t>
            </a:r>
          </a:p>
          <a:p>
            <a:r>
              <a:rPr lang="en-GB" dirty="0"/>
              <a:t>        "plot/{sample}.{</a:t>
            </a:r>
            <a:r>
              <a:rPr lang="en-GB" dirty="0" err="1"/>
              <a:t>ext</a:t>
            </a:r>
            <a:r>
              <a:rPr lang="en-GB" dirty="0"/>
              <a:t>}"</a:t>
            </a:r>
          </a:p>
          <a:p>
            <a:r>
              <a:rPr lang="en-GB" dirty="0"/>
              <a:t>    shell:</a:t>
            </a:r>
          </a:p>
          <a:p>
            <a:r>
              <a:rPr lang="en-GB" dirty="0"/>
              <a:t>        "python </a:t>
            </a:r>
            <a:r>
              <a:rPr lang="en-GB" dirty="0" err="1"/>
              <a:t>plot.py</a:t>
            </a:r>
            <a:r>
              <a:rPr lang="en-GB" dirty="0"/>
              <a:t> {input} {output}"</a:t>
            </a:r>
          </a:p>
        </p:txBody>
      </p:sp>
      <p:sp>
        <p:nvSpPr>
          <p:cNvPr id="15" name="TextBox 14">
            <a:extLst>
              <a:ext uri="{FF2B5EF4-FFF2-40B4-BE49-F238E27FC236}">
                <a16:creationId xmlns:a16="http://schemas.microsoft.com/office/drawing/2014/main" id="{976A93F0-65BD-F8AD-2922-B0BEBA07A3A4}"/>
              </a:ext>
            </a:extLst>
          </p:cNvPr>
          <p:cNvSpPr txBox="1"/>
          <p:nvPr/>
        </p:nvSpPr>
        <p:spPr>
          <a:xfrm>
            <a:off x="5412227" y="5848361"/>
            <a:ext cx="2153346" cy="369332"/>
          </a:xfrm>
          <a:prstGeom prst="rect">
            <a:avLst/>
          </a:prstGeom>
          <a:noFill/>
        </p:spPr>
        <p:txBody>
          <a:bodyPr wrap="none" rtlCol="0">
            <a:spAutoFit/>
          </a:bodyPr>
          <a:lstStyle/>
          <a:p>
            <a:r>
              <a:rPr lang="en-GB" dirty="0"/>
              <a:t>$ </a:t>
            </a:r>
            <a:r>
              <a:rPr lang="en-GB" dirty="0" err="1"/>
              <a:t>snakemake</a:t>
            </a:r>
            <a:r>
              <a:rPr lang="en-GB" dirty="0"/>
              <a:t> -c1 all</a:t>
            </a:r>
          </a:p>
        </p:txBody>
      </p:sp>
      <p:sp>
        <p:nvSpPr>
          <p:cNvPr id="16" name="TextBox 15">
            <a:extLst>
              <a:ext uri="{FF2B5EF4-FFF2-40B4-BE49-F238E27FC236}">
                <a16:creationId xmlns:a16="http://schemas.microsoft.com/office/drawing/2014/main" id="{45B2ECD8-924B-2F10-349F-F9203AA9698C}"/>
              </a:ext>
            </a:extLst>
          </p:cNvPr>
          <p:cNvSpPr txBox="1"/>
          <p:nvPr/>
        </p:nvSpPr>
        <p:spPr>
          <a:xfrm>
            <a:off x="6229896" y="808209"/>
            <a:ext cx="1097674" cy="369332"/>
          </a:xfrm>
          <a:prstGeom prst="rect">
            <a:avLst/>
          </a:prstGeom>
          <a:noFill/>
        </p:spPr>
        <p:txBody>
          <a:bodyPr wrap="square" rtlCol="0">
            <a:spAutoFit/>
          </a:bodyPr>
          <a:lstStyle/>
          <a:p>
            <a:r>
              <a:rPr lang="en-GB" dirty="0" err="1"/>
              <a:t>Workdir</a:t>
            </a:r>
            <a:r>
              <a:rPr lang="en-GB" dirty="0"/>
              <a:t>:</a:t>
            </a:r>
          </a:p>
        </p:txBody>
      </p:sp>
      <p:sp>
        <p:nvSpPr>
          <p:cNvPr id="17" name="TextBox 16">
            <a:extLst>
              <a:ext uri="{FF2B5EF4-FFF2-40B4-BE49-F238E27FC236}">
                <a16:creationId xmlns:a16="http://schemas.microsoft.com/office/drawing/2014/main" id="{FDE142B5-BC8E-2C78-C7C1-D5279F98C04E}"/>
              </a:ext>
            </a:extLst>
          </p:cNvPr>
          <p:cNvSpPr txBox="1"/>
          <p:nvPr/>
        </p:nvSpPr>
        <p:spPr>
          <a:xfrm>
            <a:off x="7047323" y="1403203"/>
            <a:ext cx="1097673" cy="369332"/>
          </a:xfrm>
          <a:prstGeom prst="rect">
            <a:avLst/>
          </a:prstGeom>
          <a:noFill/>
        </p:spPr>
        <p:txBody>
          <a:bodyPr wrap="none" rtlCol="0">
            <a:spAutoFit/>
          </a:bodyPr>
          <a:lstStyle/>
          <a:p>
            <a:r>
              <a:rPr lang="en-GB" dirty="0" err="1"/>
              <a:t>Snakefile</a:t>
            </a:r>
            <a:endParaRPr lang="en-GB" dirty="0"/>
          </a:p>
        </p:txBody>
      </p:sp>
      <p:sp>
        <p:nvSpPr>
          <p:cNvPr id="18" name="Rectangle 17">
            <a:extLst>
              <a:ext uri="{FF2B5EF4-FFF2-40B4-BE49-F238E27FC236}">
                <a16:creationId xmlns:a16="http://schemas.microsoft.com/office/drawing/2014/main" id="{AF1B37E6-B135-723C-C647-6D88928146A9}"/>
              </a:ext>
            </a:extLst>
          </p:cNvPr>
          <p:cNvSpPr/>
          <p:nvPr/>
        </p:nvSpPr>
        <p:spPr>
          <a:xfrm>
            <a:off x="5479780" y="2359404"/>
            <a:ext cx="6559821" cy="3342827"/>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solidFill>
                  <a:schemeClr val="accent6">
                    <a:lumMod val="75000"/>
                  </a:schemeClr>
                </a:solidFill>
              </a:ln>
              <a:solidFill>
                <a:schemeClr val="accent6">
                  <a:lumMod val="75000"/>
                </a:schemeClr>
              </a:solidFill>
            </a:endParaRPr>
          </a:p>
        </p:txBody>
      </p:sp>
      <p:cxnSp>
        <p:nvCxnSpPr>
          <p:cNvPr id="20" name="Elbow Connector 19">
            <a:extLst>
              <a:ext uri="{FF2B5EF4-FFF2-40B4-BE49-F238E27FC236}">
                <a16:creationId xmlns:a16="http://schemas.microsoft.com/office/drawing/2014/main" id="{6749559A-A9ED-E32F-47A0-BA2AFA1F6286}"/>
              </a:ext>
            </a:extLst>
          </p:cNvPr>
          <p:cNvCxnSpPr>
            <a:cxnSpLocks/>
            <a:stCxn id="17" idx="2"/>
            <a:endCxn id="18" idx="0"/>
          </p:cNvCxnSpPr>
          <p:nvPr/>
        </p:nvCxnSpPr>
        <p:spPr>
          <a:xfrm rot="16200000" flipH="1">
            <a:off x="7884491" y="1484203"/>
            <a:ext cx="586869" cy="1163531"/>
          </a:xfrm>
          <a:prstGeom prst="bentConnector3">
            <a:avLst>
              <a:gd name="adj1" fmla="val 50000"/>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3" name="Elbow Connector 22">
            <a:extLst>
              <a:ext uri="{FF2B5EF4-FFF2-40B4-BE49-F238E27FC236}">
                <a16:creationId xmlns:a16="http://schemas.microsoft.com/office/drawing/2014/main" id="{1C9FC8FD-90A0-A1D9-1DAD-1E4F2A56AE32}"/>
              </a:ext>
            </a:extLst>
          </p:cNvPr>
          <p:cNvCxnSpPr>
            <a:cxnSpLocks/>
            <a:stCxn id="16" idx="2"/>
            <a:endCxn id="17" idx="1"/>
          </p:cNvCxnSpPr>
          <p:nvPr/>
        </p:nvCxnSpPr>
        <p:spPr>
          <a:xfrm rot="16200000" flipH="1">
            <a:off x="6707864" y="1248410"/>
            <a:ext cx="410328" cy="268590"/>
          </a:xfrm>
          <a:prstGeom prst="bentConnector2">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32B87141-F853-01D3-08A6-6FDAD4643A55}"/>
              </a:ext>
            </a:extLst>
          </p:cNvPr>
          <p:cNvSpPr txBox="1"/>
          <p:nvPr/>
        </p:nvSpPr>
        <p:spPr>
          <a:xfrm>
            <a:off x="-3145971" y="-1948543"/>
            <a:ext cx="184731" cy="369332"/>
          </a:xfrm>
          <a:prstGeom prst="rect">
            <a:avLst/>
          </a:prstGeom>
          <a:noFill/>
        </p:spPr>
        <p:txBody>
          <a:bodyPr wrap="none" rtlCol="0">
            <a:spAutoFit/>
          </a:bodyPr>
          <a:lstStyle/>
          <a:p>
            <a:endParaRPr lang="en-GB" dirty="0"/>
          </a:p>
        </p:txBody>
      </p:sp>
      <p:sp>
        <p:nvSpPr>
          <p:cNvPr id="3" name="TextBox 2">
            <a:extLst>
              <a:ext uri="{FF2B5EF4-FFF2-40B4-BE49-F238E27FC236}">
                <a16:creationId xmlns:a16="http://schemas.microsoft.com/office/drawing/2014/main" id="{74F2AD54-C17F-3F10-95D7-A73630D1370E}"/>
              </a:ext>
            </a:extLst>
          </p:cNvPr>
          <p:cNvSpPr txBox="1"/>
          <p:nvPr/>
        </p:nvSpPr>
        <p:spPr>
          <a:xfrm>
            <a:off x="271942" y="3701143"/>
            <a:ext cx="4354487" cy="2308324"/>
          </a:xfrm>
          <a:prstGeom prst="rect">
            <a:avLst/>
          </a:prstGeom>
          <a:noFill/>
          <a:ln>
            <a:solidFill>
              <a:schemeClr val="accent6">
                <a:lumMod val="75000"/>
              </a:schemeClr>
            </a:solidFill>
          </a:ln>
        </p:spPr>
        <p:txBody>
          <a:bodyPr wrap="square" rtlCol="0">
            <a:spAutoFit/>
          </a:bodyPr>
          <a:lstStyle/>
          <a:p>
            <a:r>
              <a:rPr lang="en-GB" dirty="0"/>
              <a:t>samples = ["file1", "file2"]</a:t>
            </a:r>
          </a:p>
          <a:p>
            <a:r>
              <a:rPr lang="en-GB" dirty="0" err="1"/>
              <a:t>exts</a:t>
            </a:r>
            <a:r>
              <a:rPr lang="en-GB" dirty="0"/>
              <a:t> = [“root”, “</a:t>
            </a:r>
            <a:r>
              <a:rPr lang="en-GB" dirty="0" err="1"/>
              <a:t>png</a:t>
            </a:r>
            <a:r>
              <a:rPr lang="en-GB" dirty="0"/>
              <a:t>”]</a:t>
            </a:r>
          </a:p>
          <a:p>
            <a:r>
              <a:rPr lang="en-GB" dirty="0"/>
              <a:t>output = list()</a:t>
            </a:r>
          </a:p>
          <a:p>
            <a:endParaRPr lang="en-GB" dirty="0"/>
          </a:p>
          <a:p>
            <a:r>
              <a:rPr lang="en-GB" dirty="0"/>
              <a:t>for sample in samples:</a:t>
            </a:r>
          </a:p>
          <a:p>
            <a:r>
              <a:rPr lang="en-GB" dirty="0"/>
              <a:t>    for </a:t>
            </a:r>
            <a:r>
              <a:rPr lang="en-GB" dirty="0" err="1"/>
              <a:t>ext</a:t>
            </a:r>
            <a:r>
              <a:rPr lang="en-GB" dirty="0"/>
              <a:t> in </a:t>
            </a:r>
            <a:r>
              <a:rPr lang="en-GB" dirty="0" err="1"/>
              <a:t>exts</a:t>
            </a:r>
            <a:r>
              <a:rPr lang="en-GB" dirty="0"/>
              <a:t>:</a:t>
            </a:r>
          </a:p>
          <a:p>
            <a:r>
              <a:rPr lang="en-GB" dirty="0"/>
              <a:t>        </a:t>
            </a:r>
            <a:r>
              <a:rPr lang="en-GB" dirty="0" err="1"/>
              <a:t>output.expand</a:t>
            </a:r>
            <a:r>
              <a:rPr lang="en-GB" dirty="0"/>
              <a:t>(</a:t>
            </a:r>
            <a:r>
              <a:rPr lang="en-GB" dirty="0" err="1"/>
              <a:t>f“plot</a:t>
            </a:r>
            <a:r>
              <a:rPr lang="en-GB" dirty="0"/>
              <a:t>/{sample}.{</a:t>
            </a:r>
            <a:r>
              <a:rPr lang="en-GB" dirty="0" err="1"/>
              <a:t>ext</a:t>
            </a:r>
            <a:r>
              <a:rPr lang="en-GB" dirty="0"/>
              <a:t>}”) </a:t>
            </a:r>
          </a:p>
          <a:p>
            <a:r>
              <a:rPr lang="en-GB" dirty="0"/>
              <a:t>		 </a:t>
            </a:r>
          </a:p>
        </p:txBody>
      </p:sp>
      <p:cxnSp>
        <p:nvCxnSpPr>
          <p:cNvPr id="7" name="Elbow Connector 6">
            <a:extLst>
              <a:ext uri="{FF2B5EF4-FFF2-40B4-BE49-F238E27FC236}">
                <a16:creationId xmlns:a16="http://schemas.microsoft.com/office/drawing/2014/main" id="{C386B0B4-6892-227C-81C2-D33A1EAAA64B}"/>
              </a:ext>
            </a:extLst>
          </p:cNvPr>
          <p:cNvCxnSpPr>
            <a:cxnSpLocks/>
            <a:stCxn id="3" idx="3"/>
            <a:endCxn id="18" idx="1"/>
          </p:cNvCxnSpPr>
          <p:nvPr/>
        </p:nvCxnSpPr>
        <p:spPr>
          <a:xfrm flipV="1">
            <a:off x="4626429" y="4030818"/>
            <a:ext cx="853351" cy="824487"/>
          </a:xfrm>
          <a:prstGeom prst="bentConnector3">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7206223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467D00-E0B1-00A3-B0CC-DC01809215F7}"/>
            </a:ext>
          </a:extLst>
        </p:cNvPr>
        <p:cNvGrpSpPr/>
        <p:nvPr/>
      </p:nvGrpSpPr>
      <p:grpSpPr>
        <a:xfrm>
          <a:off x="0" y="0"/>
          <a:ext cx="0" cy="0"/>
          <a:chOff x="0" y="0"/>
          <a:chExt cx="0" cy="0"/>
        </a:xfrm>
      </p:grpSpPr>
      <p:sp useBgFill="1">
        <p:nvSpPr>
          <p:cNvPr id="21" name="Slide Background">
            <a:extLst>
              <a:ext uri="{FF2B5EF4-FFF2-40B4-BE49-F238E27FC236}">
                <a16:creationId xmlns:a16="http://schemas.microsoft.com/office/drawing/2014/main" id="{11BA247D-910F-6F70-B0E5-1130BA44DD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4915C6-7C3C-B70D-E67F-C1F4725500CB}"/>
              </a:ext>
            </a:extLst>
          </p:cNvPr>
          <p:cNvSpPr>
            <a:spLocks noGrp="1"/>
          </p:cNvSpPr>
          <p:nvPr>
            <p:ph type="title"/>
          </p:nvPr>
        </p:nvSpPr>
        <p:spPr>
          <a:xfrm>
            <a:off x="761800" y="762001"/>
            <a:ext cx="5747857" cy="1708242"/>
          </a:xfrm>
        </p:spPr>
        <p:txBody>
          <a:bodyPr vert="horz" lIns="91440" tIns="45720" rIns="91440" bIns="45720" rtlCol="0" anchor="ctr">
            <a:normAutofit fontScale="90000"/>
          </a:bodyPr>
          <a:lstStyle/>
          <a:p>
            <a:r>
              <a:rPr lang="en-GB" b="1" dirty="0"/>
              <a:t>Using custom scripts</a:t>
            </a:r>
            <a:br>
              <a:rPr lang="en-GB" b="1" dirty="0"/>
            </a:br>
            <a:br>
              <a:rPr lang="en-GB" b="1" dirty="0"/>
            </a:br>
            <a:endParaRPr lang="en-US" sz="4000" b="1" dirty="0"/>
          </a:p>
        </p:txBody>
      </p:sp>
      <p:sp>
        <p:nvSpPr>
          <p:cNvPr id="4" name="TextBox 3">
            <a:extLst>
              <a:ext uri="{FF2B5EF4-FFF2-40B4-BE49-F238E27FC236}">
                <a16:creationId xmlns:a16="http://schemas.microsoft.com/office/drawing/2014/main" id="{5F288714-66A5-F8FF-2062-1018802B80F0}"/>
              </a:ext>
            </a:extLst>
          </p:cNvPr>
          <p:cNvSpPr txBox="1"/>
          <p:nvPr/>
        </p:nvSpPr>
        <p:spPr>
          <a:xfrm>
            <a:off x="271942" y="2150701"/>
            <a:ext cx="4887887" cy="1200329"/>
          </a:xfrm>
          <a:prstGeom prst="rect">
            <a:avLst/>
          </a:prstGeom>
          <a:noFill/>
        </p:spPr>
        <p:txBody>
          <a:bodyPr wrap="square">
            <a:spAutoFit/>
          </a:bodyPr>
          <a:lstStyle/>
          <a:p>
            <a:pPr algn="just"/>
            <a:r>
              <a:rPr lang="en-GB" dirty="0" err="1"/>
              <a:t>Snakemake</a:t>
            </a:r>
            <a:r>
              <a:rPr lang="en-GB" dirty="0"/>
              <a:t> offers the script directive. It is best practice to use the script directive whenever an inline code block would have more than a few lines of code.</a:t>
            </a:r>
            <a:endParaRPr lang="en-GB" dirty="0">
              <a:latin typeface="Aptos" panose="020B0004020202020204" pitchFamily="34" charset="0"/>
            </a:endParaRPr>
          </a:p>
        </p:txBody>
      </p:sp>
      <p:sp>
        <p:nvSpPr>
          <p:cNvPr id="9" name="TextBox 8">
            <a:extLst>
              <a:ext uri="{FF2B5EF4-FFF2-40B4-BE49-F238E27FC236}">
                <a16:creationId xmlns:a16="http://schemas.microsoft.com/office/drawing/2014/main" id="{8B8084A9-4356-1745-6EDC-87809D83CFDB}"/>
              </a:ext>
            </a:extLst>
          </p:cNvPr>
          <p:cNvSpPr txBox="1"/>
          <p:nvPr/>
        </p:nvSpPr>
        <p:spPr>
          <a:xfrm>
            <a:off x="5941434" y="127077"/>
            <a:ext cx="5971604" cy="3416320"/>
          </a:xfrm>
          <a:prstGeom prst="rect">
            <a:avLst/>
          </a:prstGeom>
          <a:noFill/>
        </p:spPr>
        <p:txBody>
          <a:bodyPr wrap="square" rtlCol="0">
            <a:spAutoFit/>
          </a:bodyPr>
          <a:lstStyle/>
          <a:p>
            <a:r>
              <a:rPr lang="en-GB" dirty="0"/>
              <a:t>rule all:</a:t>
            </a:r>
          </a:p>
          <a:p>
            <a:r>
              <a:rPr lang="en-GB" dirty="0"/>
              <a:t>    input:</a:t>
            </a:r>
          </a:p>
          <a:p>
            <a:r>
              <a:rPr lang="en-GB" dirty="0"/>
              <a:t>        expand("plot/{sample}.{</a:t>
            </a:r>
            <a:r>
              <a:rPr lang="en-GB" dirty="0" err="1"/>
              <a:t>ext</a:t>
            </a:r>
            <a:r>
              <a:rPr lang="en-GB" dirty="0"/>
              <a:t>}", zip, sample=samples, </a:t>
            </a:r>
            <a:r>
              <a:rPr lang="en-GB" dirty="0" err="1"/>
              <a:t>ext</a:t>
            </a:r>
            <a:r>
              <a:rPr lang="en-GB" dirty="0"/>
              <a:t>=</a:t>
            </a:r>
            <a:r>
              <a:rPr lang="en-GB" dirty="0" err="1"/>
              <a:t>exts</a:t>
            </a:r>
            <a:r>
              <a:rPr lang="en-GB" dirty="0"/>
              <a:t>)</a:t>
            </a:r>
          </a:p>
          <a:p>
            <a:endParaRPr lang="en-GB" dirty="0"/>
          </a:p>
          <a:p>
            <a:r>
              <a:rPr lang="en-GB" dirty="0"/>
              <a:t>rule </a:t>
            </a:r>
            <a:r>
              <a:rPr lang="en-GB" dirty="0" err="1"/>
              <a:t>plotHistogram</a:t>
            </a:r>
            <a:r>
              <a:rPr lang="en-GB" dirty="0"/>
              <a:t>:</a:t>
            </a:r>
          </a:p>
          <a:p>
            <a:r>
              <a:rPr lang="en-GB" dirty="0"/>
              <a:t>    input:</a:t>
            </a:r>
          </a:p>
          <a:p>
            <a:r>
              <a:rPr lang="en-GB" dirty="0"/>
              <a:t>        "data/{sample}.root"</a:t>
            </a:r>
          </a:p>
          <a:p>
            <a:r>
              <a:rPr lang="en-GB" dirty="0"/>
              <a:t>    output:</a:t>
            </a:r>
          </a:p>
          <a:p>
            <a:r>
              <a:rPr lang="en-GB" dirty="0"/>
              <a:t>        "plot/{sample}.{</a:t>
            </a:r>
            <a:r>
              <a:rPr lang="en-GB" dirty="0" err="1"/>
              <a:t>ext</a:t>
            </a:r>
            <a:r>
              <a:rPr lang="en-GB" dirty="0"/>
              <a:t>}"</a:t>
            </a:r>
          </a:p>
          <a:p>
            <a:r>
              <a:rPr lang="en-GB" dirty="0"/>
              <a:t>    script:</a:t>
            </a:r>
          </a:p>
          <a:p>
            <a:r>
              <a:rPr lang="en-GB" dirty="0"/>
              <a:t>        "</a:t>
            </a:r>
            <a:r>
              <a:rPr lang="en-GB" dirty="0" err="1"/>
              <a:t>plot.py</a:t>
            </a:r>
            <a:r>
              <a:rPr lang="en-GB" dirty="0"/>
              <a:t>"</a:t>
            </a:r>
          </a:p>
        </p:txBody>
      </p:sp>
      <p:sp>
        <p:nvSpPr>
          <p:cNvPr id="18" name="Rectangle 17">
            <a:extLst>
              <a:ext uri="{FF2B5EF4-FFF2-40B4-BE49-F238E27FC236}">
                <a16:creationId xmlns:a16="http://schemas.microsoft.com/office/drawing/2014/main" id="{67B24A2C-2BF5-24B1-A88C-41B6BCC4D882}"/>
              </a:ext>
            </a:extLst>
          </p:cNvPr>
          <p:cNvSpPr/>
          <p:nvPr/>
        </p:nvSpPr>
        <p:spPr>
          <a:xfrm>
            <a:off x="5843617" y="120605"/>
            <a:ext cx="6251755" cy="3448991"/>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solidFill>
                  <a:schemeClr val="accent6">
                    <a:lumMod val="75000"/>
                  </a:schemeClr>
                </a:solidFill>
              </a:ln>
              <a:solidFill>
                <a:schemeClr val="accent6">
                  <a:lumMod val="75000"/>
                </a:schemeClr>
              </a:solidFill>
            </a:endParaRPr>
          </a:p>
        </p:txBody>
      </p:sp>
      <p:sp>
        <p:nvSpPr>
          <p:cNvPr id="27" name="TextBox 26">
            <a:extLst>
              <a:ext uri="{FF2B5EF4-FFF2-40B4-BE49-F238E27FC236}">
                <a16:creationId xmlns:a16="http://schemas.microsoft.com/office/drawing/2014/main" id="{0C25AD59-7A50-2307-994E-229BCD499C1A}"/>
              </a:ext>
            </a:extLst>
          </p:cNvPr>
          <p:cNvSpPr txBox="1"/>
          <p:nvPr/>
        </p:nvSpPr>
        <p:spPr>
          <a:xfrm>
            <a:off x="-3145971" y="-1948543"/>
            <a:ext cx="184731" cy="369332"/>
          </a:xfrm>
          <a:prstGeom prst="rect">
            <a:avLst/>
          </a:prstGeom>
          <a:noFill/>
        </p:spPr>
        <p:txBody>
          <a:bodyPr wrap="none" rtlCol="0">
            <a:spAutoFit/>
          </a:bodyPr>
          <a:lstStyle/>
          <a:p>
            <a:endParaRPr lang="en-GB" dirty="0"/>
          </a:p>
        </p:txBody>
      </p:sp>
      <p:sp>
        <p:nvSpPr>
          <p:cNvPr id="3" name="TextBox 2">
            <a:extLst>
              <a:ext uri="{FF2B5EF4-FFF2-40B4-BE49-F238E27FC236}">
                <a16:creationId xmlns:a16="http://schemas.microsoft.com/office/drawing/2014/main" id="{92509818-63E5-7F79-5481-85DF3CE57E8C}"/>
              </a:ext>
            </a:extLst>
          </p:cNvPr>
          <p:cNvSpPr txBox="1"/>
          <p:nvPr/>
        </p:nvSpPr>
        <p:spPr>
          <a:xfrm>
            <a:off x="744565" y="4569155"/>
            <a:ext cx="4354487" cy="2031325"/>
          </a:xfrm>
          <a:prstGeom prst="rect">
            <a:avLst/>
          </a:prstGeom>
          <a:noFill/>
          <a:ln>
            <a:solidFill>
              <a:schemeClr val="accent6">
                <a:lumMod val="75000"/>
              </a:schemeClr>
            </a:solidFill>
          </a:ln>
        </p:spPr>
        <p:txBody>
          <a:bodyPr wrap="square" rtlCol="0">
            <a:spAutoFit/>
          </a:bodyPr>
          <a:lstStyle/>
          <a:p>
            <a:r>
              <a:rPr lang="en-GB" dirty="0"/>
              <a:t>samples = ["file1", "file2"]</a:t>
            </a:r>
          </a:p>
          <a:p>
            <a:r>
              <a:rPr lang="en-GB" dirty="0" err="1"/>
              <a:t>exts</a:t>
            </a:r>
            <a:r>
              <a:rPr lang="en-GB" dirty="0"/>
              <a:t> = [“root”, “</a:t>
            </a:r>
            <a:r>
              <a:rPr lang="en-GB" dirty="0" err="1"/>
              <a:t>png</a:t>
            </a:r>
            <a:r>
              <a:rPr lang="en-GB" dirty="0"/>
              <a:t>”]</a:t>
            </a:r>
          </a:p>
          <a:p>
            <a:r>
              <a:rPr lang="en-GB" dirty="0"/>
              <a:t>output = list()</a:t>
            </a:r>
          </a:p>
          <a:p>
            <a:endParaRPr lang="en-GB" dirty="0"/>
          </a:p>
          <a:p>
            <a:r>
              <a:rPr lang="en-GB" dirty="0"/>
              <a:t>for sample in samples:</a:t>
            </a:r>
          </a:p>
          <a:p>
            <a:r>
              <a:rPr lang="en-GB" dirty="0"/>
              <a:t>    for </a:t>
            </a:r>
            <a:r>
              <a:rPr lang="en-GB" dirty="0" err="1"/>
              <a:t>ext</a:t>
            </a:r>
            <a:r>
              <a:rPr lang="en-GB" dirty="0"/>
              <a:t> in </a:t>
            </a:r>
            <a:r>
              <a:rPr lang="en-GB" dirty="0" err="1"/>
              <a:t>exts</a:t>
            </a:r>
            <a:r>
              <a:rPr lang="en-GB" dirty="0"/>
              <a:t>:</a:t>
            </a:r>
          </a:p>
          <a:p>
            <a:r>
              <a:rPr lang="en-GB" dirty="0"/>
              <a:t>        </a:t>
            </a:r>
            <a:r>
              <a:rPr lang="en-GB" dirty="0" err="1"/>
              <a:t>output.expand</a:t>
            </a:r>
            <a:r>
              <a:rPr lang="en-GB" dirty="0"/>
              <a:t>(</a:t>
            </a:r>
            <a:r>
              <a:rPr lang="en-GB" dirty="0" err="1"/>
              <a:t>f“plot</a:t>
            </a:r>
            <a:r>
              <a:rPr lang="en-GB" dirty="0"/>
              <a:t>/{sample}.{</a:t>
            </a:r>
            <a:r>
              <a:rPr lang="en-GB" dirty="0" err="1"/>
              <a:t>ext</a:t>
            </a:r>
            <a:r>
              <a:rPr lang="en-GB" dirty="0"/>
              <a:t>}”) </a:t>
            </a:r>
          </a:p>
        </p:txBody>
      </p:sp>
      <p:cxnSp>
        <p:nvCxnSpPr>
          <p:cNvPr id="7" name="Elbow Connector 6">
            <a:extLst>
              <a:ext uri="{FF2B5EF4-FFF2-40B4-BE49-F238E27FC236}">
                <a16:creationId xmlns:a16="http://schemas.microsoft.com/office/drawing/2014/main" id="{EFF164FA-2B79-F08D-09D5-1976ED1E8A76}"/>
              </a:ext>
            </a:extLst>
          </p:cNvPr>
          <p:cNvCxnSpPr>
            <a:cxnSpLocks/>
            <a:stCxn id="3" idx="3"/>
            <a:endCxn id="18" idx="1"/>
          </p:cNvCxnSpPr>
          <p:nvPr/>
        </p:nvCxnSpPr>
        <p:spPr>
          <a:xfrm flipV="1">
            <a:off x="5099052" y="1845101"/>
            <a:ext cx="744565" cy="3739717"/>
          </a:xfrm>
          <a:prstGeom prst="bentConnector3">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97029EEC-77C1-C213-F70D-06DEBA777A84}"/>
              </a:ext>
            </a:extLst>
          </p:cNvPr>
          <p:cNvSpPr txBox="1"/>
          <p:nvPr/>
        </p:nvSpPr>
        <p:spPr>
          <a:xfrm>
            <a:off x="5983693" y="3620073"/>
            <a:ext cx="5887086" cy="923330"/>
          </a:xfrm>
          <a:prstGeom prst="rect">
            <a:avLst/>
          </a:prstGeom>
          <a:noFill/>
        </p:spPr>
        <p:txBody>
          <a:bodyPr wrap="square" rtlCol="0">
            <a:spAutoFit/>
          </a:bodyPr>
          <a:lstStyle/>
          <a:p>
            <a:pPr algn="just"/>
            <a:r>
              <a:rPr lang="en-GB" dirty="0"/>
              <a:t>In the script, all properties of the rule like input, output, wildcards, etc. are available as attributes of a global </a:t>
            </a:r>
            <a:r>
              <a:rPr lang="en-GB" dirty="0" err="1"/>
              <a:t>snakemake</a:t>
            </a:r>
            <a:r>
              <a:rPr lang="en-GB" dirty="0"/>
              <a:t> object.</a:t>
            </a:r>
          </a:p>
        </p:txBody>
      </p:sp>
      <p:sp>
        <p:nvSpPr>
          <p:cNvPr id="29" name="TextBox 28">
            <a:extLst>
              <a:ext uri="{FF2B5EF4-FFF2-40B4-BE49-F238E27FC236}">
                <a16:creationId xmlns:a16="http://schemas.microsoft.com/office/drawing/2014/main" id="{ADEF6EB2-1987-3EA7-7252-6ACD2C3B7413}"/>
              </a:ext>
            </a:extLst>
          </p:cNvPr>
          <p:cNvSpPr txBox="1"/>
          <p:nvPr/>
        </p:nvSpPr>
        <p:spPr>
          <a:xfrm>
            <a:off x="6475381" y="5172669"/>
            <a:ext cx="4725589" cy="923330"/>
          </a:xfrm>
          <a:prstGeom prst="rect">
            <a:avLst/>
          </a:prstGeom>
          <a:noFill/>
          <a:ln>
            <a:solidFill>
              <a:schemeClr val="accent6">
                <a:lumMod val="75000"/>
              </a:schemeClr>
            </a:solidFill>
          </a:ln>
        </p:spPr>
        <p:txBody>
          <a:bodyPr wrap="none" rtlCol="0">
            <a:spAutoFit/>
          </a:bodyPr>
          <a:lstStyle/>
          <a:p>
            <a:r>
              <a:rPr lang="en-GB" dirty="0"/>
              <a:t>file = read(“{</a:t>
            </a:r>
            <a:r>
              <a:rPr lang="en-GB" dirty="0" err="1"/>
              <a:t>snakemake.input</a:t>
            </a:r>
            <a:r>
              <a:rPr lang="en-GB" dirty="0"/>
              <a:t>[0]}/</a:t>
            </a:r>
            <a:r>
              <a:rPr lang="en-GB" dirty="0" err="1"/>
              <a:t>DecayTree</a:t>
            </a:r>
            <a:r>
              <a:rPr lang="en-GB" dirty="0"/>
              <a:t>”)</a:t>
            </a:r>
          </a:p>
          <a:p>
            <a:r>
              <a:rPr lang="en-GB" dirty="0"/>
              <a:t>…</a:t>
            </a:r>
          </a:p>
          <a:p>
            <a:r>
              <a:rPr lang="en-GB" dirty="0"/>
              <a:t>output = write(“{</a:t>
            </a:r>
            <a:r>
              <a:rPr lang="en-GB" dirty="0" err="1"/>
              <a:t>snakemake.output</a:t>
            </a:r>
            <a:r>
              <a:rPr lang="en-GB" dirty="0"/>
              <a:t>[0]}”)</a:t>
            </a:r>
          </a:p>
        </p:txBody>
      </p:sp>
      <p:sp>
        <p:nvSpPr>
          <p:cNvPr id="40" name="TextBox 39">
            <a:extLst>
              <a:ext uri="{FF2B5EF4-FFF2-40B4-BE49-F238E27FC236}">
                <a16:creationId xmlns:a16="http://schemas.microsoft.com/office/drawing/2014/main" id="{D3F0DAD8-C690-D93D-CC19-592CB2DD1FE7}"/>
              </a:ext>
            </a:extLst>
          </p:cNvPr>
          <p:cNvSpPr txBox="1"/>
          <p:nvPr/>
        </p:nvSpPr>
        <p:spPr>
          <a:xfrm>
            <a:off x="5759682" y="4728112"/>
            <a:ext cx="1074964" cy="369332"/>
          </a:xfrm>
          <a:prstGeom prst="rect">
            <a:avLst/>
          </a:prstGeom>
          <a:noFill/>
        </p:spPr>
        <p:txBody>
          <a:bodyPr wrap="square">
            <a:spAutoFit/>
          </a:bodyPr>
          <a:lstStyle/>
          <a:p>
            <a:r>
              <a:rPr lang="en-GB" dirty="0" err="1"/>
              <a:t>plot.py</a:t>
            </a:r>
            <a:endParaRPr lang="en-GB" dirty="0"/>
          </a:p>
        </p:txBody>
      </p:sp>
      <p:sp>
        <p:nvSpPr>
          <p:cNvPr id="45" name="TextBox 44">
            <a:extLst>
              <a:ext uri="{FF2B5EF4-FFF2-40B4-BE49-F238E27FC236}">
                <a16:creationId xmlns:a16="http://schemas.microsoft.com/office/drawing/2014/main" id="{C1DE0D1F-AEC0-76D1-545D-A63461E07075}"/>
              </a:ext>
            </a:extLst>
          </p:cNvPr>
          <p:cNvSpPr txBox="1"/>
          <p:nvPr/>
        </p:nvSpPr>
        <p:spPr>
          <a:xfrm>
            <a:off x="744565" y="3467840"/>
            <a:ext cx="1097674" cy="369332"/>
          </a:xfrm>
          <a:prstGeom prst="rect">
            <a:avLst/>
          </a:prstGeom>
          <a:noFill/>
        </p:spPr>
        <p:txBody>
          <a:bodyPr wrap="square" rtlCol="0">
            <a:spAutoFit/>
          </a:bodyPr>
          <a:lstStyle/>
          <a:p>
            <a:r>
              <a:rPr lang="en-GB" dirty="0" err="1"/>
              <a:t>Workdir</a:t>
            </a:r>
            <a:r>
              <a:rPr lang="en-GB" dirty="0"/>
              <a:t>:</a:t>
            </a:r>
          </a:p>
        </p:txBody>
      </p:sp>
      <p:sp>
        <p:nvSpPr>
          <p:cNvPr id="46" name="TextBox 45">
            <a:extLst>
              <a:ext uri="{FF2B5EF4-FFF2-40B4-BE49-F238E27FC236}">
                <a16:creationId xmlns:a16="http://schemas.microsoft.com/office/drawing/2014/main" id="{942EAA05-0853-BE1F-A983-5F6E8064B649}"/>
              </a:ext>
            </a:extLst>
          </p:cNvPr>
          <p:cNvSpPr txBox="1"/>
          <p:nvPr/>
        </p:nvSpPr>
        <p:spPr>
          <a:xfrm>
            <a:off x="1587824" y="3854396"/>
            <a:ext cx="1097673" cy="369332"/>
          </a:xfrm>
          <a:prstGeom prst="rect">
            <a:avLst/>
          </a:prstGeom>
          <a:noFill/>
        </p:spPr>
        <p:txBody>
          <a:bodyPr wrap="square" rtlCol="0">
            <a:spAutoFit/>
          </a:bodyPr>
          <a:lstStyle/>
          <a:p>
            <a:r>
              <a:rPr lang="en-GB" dirty="0" err="1"/>
              <a:t>Snakefile</a:t>
            </a:r>
            <a:endParaRPr lang="en-GB" dirty="0"/>
          </a:p>
        </p:txBody>
      </p:sp>
      <p:cxnSp>
        <p:nvCxnSpPr>
          <p:cNvPr id="47" name="Elbow Connector 46">
            <a:extLst>
              <a:ext uri="{FF2B5EF4-FFF2-40B4-BE49-F238E27FC236}">
                <a16:creationId xmlns:a16="http://schemas.microsoft.com/office/drawing/2014/main" id="{CE67821C-CF54-7D59-8DE7-9AE64C2E344B}"/>
              </a:ext>
            </a:extLst>
          </p:cNvPr>
          <p:cNvCxnSpPr>
            <a:cxnSpLocks/>
            <a:stCxn id="46" idx="2"/>
            <a:endCxn id="3" idx="0"/>
          </p:cNvCxnSpPr>
          <p:nvPr/>
        </p:nvCxnSpPr>
        <p:spPr>
          <a:xfrm rot="16200000" flipH="1">
            <a:off x="2356522" y="4003867"/>
            <a:ext cx="345427" cy="785148"/>
          </a:xfrm>
          <a:prstGeom prst="bentConnector3">
            <a:avLst>
              <a:gd name="adj1" fmla="val 50000"/>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8" name="Elbow Connector 47">
            <a:extLst>
              <a:ext uri="{FF2B5EF4-FFF2-40B4-BE49-F238E27FC236}">
                <a16:creationId xmlns:a16="http://schemas.microsoft.com/office/drawing/2014/main" id="{4766FC28-0BBE-687F-570C-0DB5817CB067}"/>
              </a:ext>
            </a:extLst>
          </p:cNvPr>
          <p:cNvCxnSpPr>
            <a:cxnSpLocks/>
            <a:stCxn id="45" idx="2"/>
            <a:endCxn id="46" idx="1"/>
          </p:cNvCxnSpPr>
          <p:nvPr/>
        </p:nvCxnSpPr>
        <p:spPr>
          <a:xfrm rot="16200000" flipH="1">
            <a:off x="1339668" y="3790906"/>
            <a:ext cx="201890" cy="294422"/>
          </a:xfrm>
          <a:prstGeom prst="bentConnector2">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6" name="Elbow Connector 65">
            <a:extLst>
              <a:ext uri="{FF2B5EF4-FFF2-40B4-BE49-F238E27FC236}">
                <a16:creationId xmlns:a16="http://schemas.microsoft.com/office/drawing/2014/main" id="{1567E90E-7DE6-9128-CC05-30A9FBF7BF4A}"/>
              </a:ext>
            </a:extLst>
          </p:cNvPr>
          <p:cNvCxnSpPr>
            <a:stCxn id="40" idx="2"/>
            <a:endCxn id="29" idx="1"/>
          </p:cNvCxnSpPr>
          <p:nvPr/>
        </p:nvCxnSpPr>
        <p:spPr>
          <a:xfrm rot="16200000" flipH="1">
            <a:off x="6117827" y="5276780"/>
            <a:ext cx="536890" cy="178217"/>
          </a:xfrm>
          <a:prstGeom prst="bentConnector2">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8" name="TextBox 67">
            <a:extLst>
              <a:ext uri="{FF2B5EF4-FFF2-40B4-BE49-F238E27FC236}">
                <a16:creationId xmlns:a16="http://schemas.microsoft.com/office/drawing/2014/main" id="{7D594164-60C2-1043-49AF-749965A7E161}"/>
              </a:ext>
            </a:extLst>
          </p:cNvPr>
          <p:cNvSpPr txBox="1"/>
          <p:nvPr/>
        </p:nvSpPr>
        <p:spPr>
          <a:xfrm>
            <a:off x="5843617" y="6488668"/>
            <a:ext cx="2153346" cy="369332"/>
          </a:xfrm>
          <a:prstGeom prst="rect">
            <a:avLst/>
          </a:prstGeom>
          <a:noFill/>
        </p:spPr>
        <p:txBody>
          <a:bodyPr wrap="none" rtlCol="0">
            <a:spAutoFit/>
          </a:bodyPr>
          <a:lstStyle/>
          <a:p>
            <a:r>
              <a:rPr lang="en-GB" dirty="0"/>
              <a:t>$ </a:t>
            </a:r>
            <a:r>
              <a:rPr lang="en-GB" dirty="0" err="1"/>
              <a:t>snakemake</a:t>
            </a:r>
            <a:r>
              <a:rPr lang="en-GB" dirty="0"/>
              <a:t> -c1 all</a:t>
            </a:r>
          </a:p>
        </p:txBody>
      </p:sp>
    </p:spTree>
    <p:extLst>
      <p:ext uri="{BB962C8B-B14F-4D97-AF65-F5344CB8AC3E}">
        <p14:creationId xmlns:p14="http://schemas.microsoft.com/office/powerpoint/2010/main" val="73413523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BE59F5-771B-C1A4-E474-E50E1C3D4A7F}"/>
            </a:ext>
          </a:extLst>
        </p:cNvPr>
        <p:cNvGrpSpPr/>
        <p:nvPr/>
      </p:nvGrpSpPr>
      <p:grpSpPr>
        <a:xfrm>
          <a:off x="0" y="0"/>
          <a:ext cx="0" cy="0"/>
          <a:chOff x="0" y="0"/>
          <a:chExt cx="0" cy="0"/>
        </a:xfrm>
      </p:grpSpPr>
      <p:sp useBgFill="1">
        <p:nvSpPr>
          <p:cNvPr id="21" name="Slide Background">
            <a:extLst>
              <a:ext uri="{FF2B5EF4-FFF2-40B4-BE49-F238E27FC236}">
                <a16:creationId xmlns:a16="http://schemas.microsoft.com/office/drawing/2014/main" id="{D816A5A1-4338-A31B-3CFF-05C9ADD2D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A7FE6A-698C-AA5D-AE04-77F150023C38}"/>
              </a:ext>
            </a:extLst>
          </p:cNvPr>
          <p:cNvSpPr>
            <a:spLocks noGrp="1"/>
          </p:cNvSpPr>
          <p:nvPr>
            <p:ph type="title"/>
          </p:nvPr>
        </p:nvSpPr>
        <p:spPr>
          <a:xfrm>
            <a:off x="761800" y="762001"/>
            <a:ext cx="5747857" cy="1708242"/>
          </a:xfrm>
        </p:spPr>
        <p:txBody>
          <a:bodyPr vert="horz" lIns="91440" tIns="45720" rIns="91440" bIns="45720" rtlCol="0" anchor="ctr">
            <a:normAutofit fontScale="90000"/>
          </a:bodyPr>
          <a:lstStyle/>
          <a:p>
            <a:r>
              <a:rPr lang="en-GB" b="1" dirty="0"/>
              <a:t>Rules chain</a:t>
            </a:r>
            <a:br>
              <a:rPr lang="en-GB" b="1" dirty="0"/>
            </a:br>
            <a:br>
              <a:rPr lang="en-GB" b="1" dirty="0"/>
            </a:br>
            <a:endParaRPr lang="en-US" sz="4000" b="1" dirty="0"/>
          </a:p>
        </p:txBody>
      </p:sp>
      <p:sp>
        <p:nvSpPr>
          <p:cNvPr id="4" name="TextBox 3">
            <a:extLst>
              <a:ext uri="{FF2B5EF4-FFF2-40B4-BE49-F238E27FC236}">
                <a16:creationId xmlns:a16="http://schemas.microsoft.com/office/drawing/2014/main" id="{EF0443BB-0E73-4045-330E-0FB807A8C656}"/>
              </a:ext>
            </a:extLst>
          </p:cNvPr>
          <p:cNvSpPr txBox="1"/>
          <p:nvPr/>
        </p:nvSpPr>
        <p:spPr>
          <a:xfrm>
            <a:off x="271942" y="2150701"/>
            <a:ext cx="4887887" cy="646331"/>
          </a:xfrm>
          <a:prstGeom prst="rect">
            <a:avLst/>
          </a:prstGeom>
          <a:noFill/>
        </p:spPr>
        <p:txBody>
          <a:bodyPr wrap="square">
            <a:spAutoFit/>
          </a:bodyPr>
          <a:lstStyle/>
          <a:p>
            <a:pPr algn="just"/>
            <a:r>
              <a:rPr lang="en-GB" dirty="0" err="1"/>
              <a:t>Snakemake</a:t>
            </a:r>
            <a:r>
              <a:rPr lang="en-GB" dirty="0"/>
              <a:t> offers the possibility of rules chains.</a:t>
            </a:r>
            <a:endParaRPr lang="en-GB" dirty="0">
              <a:latin typeface="Aptos" panose="020B0004020202020204" pitchFamily="34" charset="0"/>
            </a:endParaRPr>
          </a:p>
        </p:txBody>
      </p:sp>
      <p:sp>
        <p:nvSpPr>
          <p:cNvPr id="9" name="TextBox 8">
            <a:extLst>
              <a:ext uri="{FF2B5EF4-FFF2-40B4-BE49-F238E27FC236}">
                <a16:creationId xmlns:a16="http://schemas.microsoft.com/office/drawing/2014/main" id="{139159F6-D357-D332-873B-9F4D31B66C6F}"/>
              </a:ext>
            </a:extLst>
          </p:cNvPr>
          <p:cNvSpPr txBox="1"/>
          <p:nvPr/>
        </p:nvSpPr>
        <p:spPr>
          <a:xfrm>
            <a:off x="5941434" y="127077"/>
            <a:ext cx="5971604" cy="5632311"/>
          </a:xfrm>
          <a:prstGeom prst="rect">
            <a:avLst/>
          </a:prstGeom>
          <a:noFill/>
        </p:spPr>
        <p:txBody>
          <a:bodyPr wrap="square" rtlCol="0">
            <a:spAutoFit/>
          </a:bodyPr>
          <a:lstStyle/>
          <a:p>
            <a:r>
              <a:rPr lang="en-GB" dirty="0"/>
              <a:t>rule all:</a:t>
            </a:r>
          </a:p>
          <a:p>
            <a:r>
              <a:rPr lang="en-GB" dirty="0"/>
              <a:t>    input:</a:t>
            </a:r>
          </a:p>
          <a:p>
            <a:r>
              <a:rPr lang="en-GB" dirty="0"/>
              <a:t>        expand("plot/{sample}.{</a:t>
            </a:r>
            <a:r>
              <a:rPr lang="en-GB" dirty="0" err="1"/>
              <a:t>ext</a:t>
            </a:r>
            <a:r>
              <a:rPr lang="en-GB" dirty="0"/>
              <a:t>}", zip, sample=samples, </a:t>
            </a:r>
            <a:r>
              <a:rPr lang="en-GB" dirty="0" err="1"/>
              <a:t>ext</a:t>
            </a:r>
            <a:r>
              <a:rPr lang="en-GB" dirty="0"/>
              <a:t>=</a:t>
            </a:r>
            <a:r>
              <a:rPr lang="en-GB" dirty="0" err="1"/>
              <a:t>exts</a:t>
            </a:r>
            <a:r>
              <a:rPr lang="en-GB" dirty="0"/>
              <a:t>)</a:t>
            </a:r>
          </a:p>
          <a:p>
            <a:endParaRPr lang="en-GB" dirty="0"/>
          </a:p>
          <a:p>
            <a:r>
              <a:rPr lang="en-GB" dirty="0"/>
              <a:t>rule selection</a:t>
            </a:r>
          </a:p>
          <a:p>
            <a:r>
              <a:rPr lang="en-GB" dirty="0"/>
              <a:t>    input: </a:t>
            </a:r>
          </a:p>
          <a:p>
            <a:r>
              <a:rPr lang="en-GB" dirty="0"/>
              <a:t>        “data/{sample}.root”</a:t>
            </a:r>
          </a:p>
          <a:p>
            <a:r>
              <a:rPr lang="en-GB" dirty="0"/>
              <a:t>    output:</a:t>
            </a:r>
          </a:p>
          <a:p>
            <a:r>
              <a:rPr lang="en-GB" dirty="0"/>
              <a:t>        “data/{sample}_</a:t>
            </a:r>
            <a:r>
              <a:rPr lang="en-GB" dirty="0" err="1"/>
              <a:t>sel.root</a:t>
            </a:r>
            <a:r>
              <a:rPr lang="en-GB" dirty="0"/>
              <a:t>”</a:t>
            </a:r>
          </a:p>
          <a:p>
            <a:r>
              <a:rPr lang="en-GB" dirty="0"/>
              <a:t>    script:</a:t>
            </a:r>
          </a:p>
          <a:p>
            <a:r>
              <a:rPr lang="en-GB" dirty="0"/>
              <a:t>        “</a:t>
            </a:r>
            <a:r>
              <a:rPr lang="en-GB" dirty="0" err="1"/>
              <a:t>apply_sel.py</a:t>
            </a:r>
            <a:r>
              <a:rPr lang="en-GB" dirty="0"/>
              <a:t>”</a:t>
            </a:r>
          </a:p>
          <a:p>
            <a:endParaRPr lang="en-GB" dirty="0"/>
          </a:p>
          <a:p>
            <a:r>
              <a:rPr lang="en-GB" dirty="0"/>
              <a:t>rule </a:t>
            </a:r>
            <a:r>
              <a:rPr lang="en-GB" dirty="0" err="1"/>
              <a:t>plotHistogram</a:t>
            </a:r>
            <a:r>
              <a:rPr lang="en-GB" dirty="0"/>
              <a:t>:</a:t>
            </a:r>
          </a:p>
          <a:p>
            <a:r>
              <a:rPr lang="en-GB" dirty="0"/>
              <a:t>    input:</a:t>
            </a:r>
          </a:p>
          <a:p>
            <a:r>
              <a:rPr lang="en-GB" dirty="0"/>
              <a:t>        </a:t>
            </a:r>
            <a:r>
              <a:rPr lang="en-GB" dirty="0" err="1"/>
              <a:t>selection.output</a:t>
            </a:r>
            <a:endParaRPr lang="en-GB" dirty="0"/>
          </a:p>
          <a:p>
            <a:r>
              <a:rPr lang="en-GB" dirty="0"/>
              <a:t>    output:</a:t>
            </a:r>
          </a:p>
          <a:p>
            <a:r>
              <a:rPr lang="en-GB" dirty="0"/>
              <a:t>        "plot/{sample}.{</a:t>
            </a:r>
            <a:r>
              <a:rPr lang="en-GB" dirty="0" err="1"/>
              <a:t>ext</a:t>
            </a:r>
            <a:r>
              <a:rPr lang="en-GB" dirty="0"/>
              <a:t>}"</a:t>
            </a:r>
          </a:p>
          <a:p>
            <a:r>
              <a:rPr lang="en-GB" dirty="0"/>
              <a:t>    script:</a:t>
            </a:r>
          </a:p>
          <a:p>
            <a:r>
              <a:rPr lang="en-GB" dirty="0"/>
              <a:t>        "</a:t>
            </a:r>
            <a:r>
              <a:rPr lang="en-GB" dirty="0" err="1"/>
              <a:t>plot.py</a:t>
            </a:r>
            <a:r>
              <a:rPr lang="en-GB" dirty="0"/>
              <a:t>"</a:t>
            </a:r>
          </a:p>
        </p:txBody>
      </p:sp>
      <p:sp>
        <p:nvSpPr>
          <p:cNvPr id="18" name="Rectangle 17">
            <a:extLst>
              <a:ext uri="{FF2B5EF4-FFF2-40B4-BE49-F238E27FC236}">
                <a16:creationId xmlns:a16="http://schemas.microsoft.com/office/drawing/2014/main" id="{1EA0ED73-1E47-896A-3F1F-D93766BD9A1F}"/>
              </a:ext>
            </a:extLst>
          </p:cNvPr>
          <p:cNvSpPr/>
          <p:nvPr/>
        </p:nvSpPr>
        <p:spPr>
          <a:xfrm>
            <a:off x="5843617" y="120605"/>
            <a:ext cx="6251755" cy="3448991"/>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solidFill>
                  <a:schemeClr val="accent6">
                    <a:lumMod val="75000"/>
                  </a:schemeClr>
                </a:solidFill>
              </a:ln>
              <a:solidFill>
                <a:schemeClr val="accent6">
                  <a:lumMod val="75000"/>
                </a:schemeClr>
              </a:solidFill>
            </a:endParaRPr>
          </a:p>
        </p:txBody>
      </p:sp>
      <p:sp>
        <p:nvSpPr>
          <p:cNvPr id="27" name="TextBox 26">
            <a:extLst>
              <a:ext uri="{FF2B5EF4-FFF2-40B4-BE49-F238E27FC236}">
                <a16:creationId xmlns:a16="http://schemas.microsoft.com/office/drawing/2014/main" id="{C22630FD-8769-CD60-D595-69BE11A07AD7}"/>
              </a:ext>
            </a:extLst>
          </p:cNvPr>
          <p:cNvSpPr txBox="1"/>
          <p:nvPr/>
        </p:nvSpPr>
        <p:spPr>
          <a:xfrm>
            <a:off x="-3145971" y="-1948543"/>
            <a:ext cx="184731" cy="369332"/>
          </a:xfrm>
          <a:prstGeom prst="rect">
            <a:avLst/>
          </a:prstGeom>
          <a:noFill/>
        </p:spPr>
        <p:txBody>
          <a:bodyPr wrap="none" rtlCol="0">
            <a:spAutoFit/>
          </a:bodyPr>
          <a:lstStyle/>
          <a:p>
            <a:endParaRPr lang="en-GB" dirty="0"/>
          </a:p>
        </p:txBody>
      </p:sp>
      <p:sp>
        <p:nvSpPr>
          <p:cNvPr id="3" name="TextBox 2">
            <a:extLst>
              <a:ext uri="{FF2B5EF4-FFF2-40B4-BE49-F238E27FC236}">
                <a16:creationId xmlns:a16="http://schemas.microsoft.com/office/drawing/2014/main" id="{CE9292E3-E01D-DF88-CD44-D8FA9F93753F}"/>
              </a:ext>
            </a:extLst>
          </p:cNvPr>
          <p:cNvSpPr txBox="1"/>
          <p:nvPr/>
        </p:nvSpPr>
        <p:spPr>
          <a:xfrm>
            <a:off x="344748" y="3932070"/>
            <a:ext cx="4354487" cy="2031325"/>
          </a:xfrm>
          <a:prstGeom prst="rect">
            <a:avLst/>
          </a:prstGeom>
          <a:noFill/>
          <a:ln>
            <a:solidFill>
              <a:schemeClr val="accent6">
                <a:lumMod val="75000"/>
              </a:schemeClr>
            </a:solidFill>
          </a:ln>
        </p:spPr>
        <p:txBody>
          <a:bodyPr wrap="square" rtlCol="0">
            <a:spAutoFit/>
          </a:bodyPr>
          <a:lstStyle/>
          <a:p>
            <a:r>
              <a:rPr lang="en-GB" dirty="0"/>
              <a:t>samples = ["file1", "file2"]</a:t>
            </a:r>
          </a:p>
          <a:p>
            <a:r>
              <a:rPr lang="en-GB" dirty="0" err="1"/>
              <a:t>exts</a:t>
            </a:r>
            <a:r>
              <a:rPr lang="en-GB" dirty="0"/>
              <a:t> = [“root”, “</a:t>
            </a:r>
            <a:r>
              <a:rPr lang="en-GB" dirty="0" err="1"/>
              <a:t>png</a:t>
            </a:r>
            <a:r>
              <a:rPr lang="en-GB" dirty="0"/>
              <a:t>”]</a:t>
            </a:r>
          </a:p>
          <a:p>
            <a:r>
              <a:rPr lang="en-GB" dirty="0"/>
              <a:t>output = list()</a:t>
            </a:r>
          </a:p>
          <a:p>
            <a:endParaRPr lang="en-GB" dirty="0"/>
          </a:p>
          <a:p>
            <a:r>
              <a:rPr lang="en-GB" dirty="0"/>
              <a:t>for sample in samples:</a:t>
            </a:r>
          </a:p>
          <a:p>
            <a:r>
              <a:rPr lang="en-GB" dirty="0"/>
              <a:t>    for </a:t>
            </a:r>
            <a:r>
              <a:rPr lang="en-GB" dirty="0" err="1"/>
              <a:t>ext</a:t>
            </a:r>
            <a:r>
              <a:rPr lang="en-GB" dirty="0"/>
              <a:t> in </a:t>
            </a:r>
            <a:r>
              <a:rPr lang="en-GB" dirty="0" err="1"/>
              <a:t>exts</a:t>
            </a:r>
            <a:r>
              <a:rPr lang="en-GB" dirty="0"/>
              <a:t>:</a:t>
            </a:r>
          </a:p>
          <a:p>
            <a:r>
              <a:rPr lang="en-GB" dirty="0"/>
              <a:t>        </a:t>
            </a:r>
            <a:r>
              <a:rPr lang="en-GB" dirty="0" err="1"/>
              <a:t>output.expand</a:t>
            </a:r>
            <a:r>
              <a:rPr lang="en-GB" dirty="0"/>
              <a:t>(</a:t>
            </a:r>
            <a:r>
              <a:rPr lang="en-GB" dirty="0" err="1"/>
              <a:t>f“plot</a:t>
            </a:r>
            <a:r>
              <a:rPr lang="en-GB" dirty="0"/>
              <a:t>/{sample}.{</a:t>
            </a:r>
            <a:r>
              <a:rPr lang="en-GB" dirty="0" err="1"/>
              <a:t>ext</a:t>
            </a:r>
            <a:r>
              <a:rPr lang="en-GB" dirty="0"/>
              <a:t>}”) </a:t>
            </a:r>
          </a:p>
        </p:txBody>
      </p:sp>
      <p:cxnSp>
        <p:nvCxnSpPr>
          <p:cNvPr id="7" name="Elbow Connector 6">
            <a:extLst>
              <a:ext uri="{FF2B5EF4-FFF2-40B4-BE49-F238E27FC236}">
                <a16:creationId xmlns:a16="http://schemas.microsoft.com/office/drawing/2014/main" id="{B77524ED-CEED-5A9E-F72B-EAF0D10CF873}"/>
              </a:ext>
            </a:extLst>
          </p:cNvPr>
          <p:cNvCxnSpPr>
            <a:cxnSpLocks/>
            <a:stCxn id="3" idx="3"/>
            <a:endCxn id="18" idx="1"/>
          </p:cNvCxnSpPr>
          <p:nvPr/>
        </p:nvCxnSpPr>
        <p:spPr>
          <a:xfrm flipV="1">
            <a:off x="4699235" y="1845101"/>
            <a:ext cx="1144382" cy="3102632"/>
          </a:xfrm>
          <a:prstGeom prst="bentConnector3">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2E2B35D7-62D1-9738-50F1-A4CF0B2F7A10}"/>
              </a:ext>
            </a:extLst>
          </p:cNvPr>
          <p:cNvSpPr txBox="1"/>
          <p:nvPr/>
        </p:nvSpPr>
        <p:spPr>
          <a:xfrm>
            <a:off x="344748" y="2830755"/>
            <a:ext cx="1097674" cy="369332"/>
          </a:xfrm>
          <a:prstGeom prst="rect">
            <a:avLst/>
          </a:prstGeom>
          <a:noFill/>
        </p:spPr>
        <p:txBody>
          <a:bodyPr wrap="square" rtlCol="0">
            <a:spAutoFit/>
          </a:bodyPr>
          <a:lstStyle/>
          <a:p>
            <a:r>
              <a:rPr lang="en-GB" dirty="0" err="1"/>
              <a:t>Workdir</a:t>
            </a:r>
            <a:r>
              <a:rPr lang="en-GB" dirty="0"/>
              <a:t>:</a:t>
            </a:r>
          </a:p>
        </p:txBody>
      </p:sp>
      <p:sp>
        <p:nvSpPr>
          <p:cNvPr id="46" name="TextBox 45">
            <a:extLst>
              <a:ext uri="{FF2B5EF4-FFF2-40B4-BE49-F238E27FC236}">
                <a16:creationId xmlns:a16="http://schemas.microsoft.com/office/drawing/2014/main" id="{39EE917D-4EE4-80E5-4D31-14B49CE6A07A}"/>
              </a:ext>
            </a:extLst>
          </p:cNvPr>
          <p:cNvSpPr txBox="1"/>
          <p:nvPr/>
        </p:nvSpPr>
        <p:spPr>
          <a:xfrm>
            <a:off x="1188007" y="3217311"/>
            <a:ext cx="1097673" cy="369332"/>
          </a:xfrm>
          <a:prstGeom prst="rect">
            <a:avLst/>
          </a:prstGeom>
          <a:noFill/>
        </p:spPr>
        <p:txBody>
          <a:bodyPr wrap="square" rtlCol="0">
            <a:spAutoFit/>
          </a:bodyPr>
          <a:lstStyle/>
          <a:p>
            <a:r>
              <a:rPr lang="en-GB" dirty="0" err="1"/>
              <a:t>Snakefile</a:t>
            </a:r>
            <a:endParaRPr lang="en-GB" dirty="0"/>
          </a:p>
        </p:txBody>
      </p:sp>
      <p:cxnSp>
        <p:nvCxnSpPr>
          <p:cNvPr id="47" name="Elbow Connector 46">
            <a:extLst>
              <a:ext uri="{FF2B5EF4-FFF2-40B4-BE49-F238E27FC236}">
                <a16:creationId xmlns:a16="http://schemas.microsoft.com/office/drawing/2014/main" id="{970CD324-9E3F-2560-6E78-EFB52DF0C1E5}"/>
              </a:ext>
            </a:extLst>
          </p:cNvPr>
          <p:cNvCxnSpPr>
            <a:cxnSpLocks/>
            <a:stCxn id="46" idx="2"/>
            <a:endCxn id="3" idx="0"/>
          </p:cNvCxnSpPr>
          <p:nvPr/>
        </p:nvCxnSpPr>
        <p:spPr>
          <a:xfrm rot="16200000" flipH="1">
            <a:off x="1956705" y="3366782"/>
            <a:ext cx="345427" cy="785148"/>
          </a:xfrm>
          <a:prstGeom prst="bentConnector3">
            <a:avLst>
              <a:gd name="adj1" fmla="val 50000"/>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8" name="Elbow Connector 47">
            <a:extLst>
              <a:ext uri="{FF2B5EF4-FFF2-40B4-BE49-F238E27FC236}">
                <a16:creationId xmlns:a16="http://schemas.microsoft.com/office/drawing/2014/main" id="{67DA8769-ED39-DE75-F64B-F0F3C3779A65}"/>
              </a:ext>
            </a:extLst>
          </p:cNvPr>
          <p:cNvCxnSpPr>
            <a:cxnSpLocks/>
            <a:stCxn id="45" idx="2"/>
            <a:endCxn id="46" idx="1"/>
          </p:cNvCxnSpPr>
          <p:nvPr/>
        </p:nvCxnSpPr>
        <p:spPr>
          <a:xfrm rot="16200000" flipH="1">
            <a:off x="939851" y="3153821"/>
            <a:ext cx="201890" cy="294422"/>
          </a:xfrm>
          <a:prstGeom prst="bentConnector2">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8" name="TextBox 67">
            <a:extLst>
              <a:ext uri="{FF2B5EF4-FFF2-40B4-BE49-F238E27FC236}">
                <a16:creationId xmlns:a16="http://schemas.microsoft.com/office/drawing/2014/main" id="{93B2974F-4830-4619-4F13-9AE0D3C27ABE}"/>
              </a:ext>
            </a:extLst>
          </p:cNvPr>
          <p:cNvSpPr txBox="1"/>
          <p:nvPr/>
        </p:nvSpPr>
        <p:spPr>
          <a:xfrm>
            <a:off x="5843617" y="5939362"/>
            <a:ext cx="2153346" cy="369332"/>
          </a:xfrm>
          <a:prstGeom prst="rect">
            <a:avLst/>
          </a:prstGeom>
          <a:noFill/>
        </p:spPr>
        <p:txBody>
          <a:bodyPr wrap="none" rtlCol="0">
            <a:spAutoFit/>
          </a:bodyPr>
          <a:lstStyle/>
          <a:p>
            <a:r>
              <a:rPr lang="en-GB" dirty="0"/>
              <a:t>$ </a:t>
            </a:r>
            <a:r>
              <a:rPr lang="en-GB" dirty="0" err="1"/>
              <a:t>snakemake</a:t>
            </a:r>
            <a:r>
              <a:rPr lang="en-GB" dirty="0"/>
              <a:t> -c1 all</a:t>
            </a:r>
          </a:p>
        </p:txBody>
      </p:sp>
    </p:spTree>
    <p:extLst>
      <p:ext uri="{BB962C8B-B14F-4D97-AF65-F5344CB8AC3E}">
        <p14:creationId xmlns:p14="http://schemas.microsoft.com/office/powerpoint/2010/main" val="51108085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64D207-C538-AC2D-F350-EECC54EEA0A2}"/>
            </a:ext>
          </a:extLst>
        </p:cNvPr>
        <p:cNvGrpSpPr/>
        <p:nvPr/>
      </p:nvGrpSpPr>
      <p:grpSpPr>
        <a:xfrm>
          <a:off x="0" y="0"/>
          <a:ext cx="0" cy="0"/>
          <a:chOff x="0" y="0"/>
          <a:chExt cx="0" cy="0"/>
        </a:xfrm>
      </p:grpSpPr>
      <p:sp useBgFill="1">
        <p:nvSpPr>
          <p:cNvPr id="21" name="Slide Background">
            <a:extLst>
              <a:ext uri="{FF2B5EF4-FFF2-40B4-BE49-F238E27FC236}">
                <a16:creationId xmlns:a16="http://schemas.microsoft.com/office/drawing/2014/main" id="{CC38B50A-A4F9-C02D-4BCC-2FE9397991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CFCC7C-3953-3D74-3B2D-702A7D7556A0}"/>
              </a:ext>
            </a:extLst>
          </p:cNvPr>
          <p:cNvSpPr>
            <a:spLocks noGrp="1"/>
          </p:cNvSpPr>
          <p:nvPr>
            <p:ph type="title"/>
          </p:nvPr>
        </p:nvSpPr>
        <p:spPr>
          <a:xfrm>
            <a:off x="761800" y="762001"/>
            <a:ext cx="5747857" cy="1708242"/>
          </a:xfrm>
        </p:spPr>
        <p:txBody>
          <a:bodyPr vert="horz" lIns="91440" tIns="45720" rIns="91440" bIns="45720" rtlCol="0" anchor="ctr">
            <a:normAutofit fontScale="90000"/>
          </a:bodyPr>
          <a:lstStyle/>
          <a:p>
            <a:r>
              <a:rPr lang="en-GB" b="1" dirty="0"/>
              <a:t>Listing outputs</a:t>
            </a:r>
            <a:br>
              <a:rPr lang="en-GB" b="1" dirty="0"/>
            </a:br>
            <a:br>
              <a:rPr lang="en-GB" b="1" dirty="0"/>
            </a:br>
            <a:endParaRPr lang="en-US" sz="4000" b="1" dirty="0"/>
          </a:p>
        </p:txBody>
      </p:sp>
      <p:sp>
        <p:nvSpPr>
          <p:cNvPr id="27" name="TextBox 26">
            <a:extLst>
              <a:ext uri="{FF2B5EF4-FFF2-40B4-BE49-F238E27FC236}">
                <a16:creationId xmlns:a16="http://schemas.microsoft.com/office/drawing/2014/main" id="{FD2C8F7A-1F23-1A7A-20B9-38835051D178}"/>
              </a:ext>
            </a:extLst>
          </p:cNvPr>
          <p:cNvSpPr txBox="1"/>
          <p:nvPr/>
        </p:nvSpPr>
        <p:spPr>
          <a:xfrm>
            <a:off x="-3145971" y="-1948543"/>
            <a:ext cx="184731" cy="369332"/>
          </a:xfrm>
          <a:prstGeom prst="rect">
            <a:avLst/>
          </a:prstGeom>
          <a:noFill/>
        </p:spPr>
        <p:txBody>
          <a:bodyPr wrap="none" rtlCol="0">
            <a:spAutoFit/>
          </a:bodyPr>
          <a:lstStyle/>
          <a:p>
            <a:endParaRPr lang="en-GB" dirty="0"/>
          </a:p>
        </p:txBody>
      </p:sp>
      <p:sp>
        <p:nvSpPr>
          <p:cNvPr id="68" name="TextBox 67">
            <a:extLst>
              <a:ext uri="{FF2B5EF4-FFF2-40B4-BE49-F238E27FC236}">
                <a16:creationId xmlns:a16="http://schemas.microsoft.com/office/drawing/2014/main" id="{6FA41FB4-06E9-766E-CDE7-A305D04A50A3}"/>
              </a:ext>
            </a:extLst>
          </p:cNvPr>
          <p:cNvSpPr txBox="1"/>
          <p:nvPr/>
        </p:nvSpPr>
        <p:spPr>
          <a:xfrm>
            <a:off x="761799" y="2910430"/>
            <a:ext cx="5214458" cy="1477328"/>
          </a:xfrm>
          <a:prstGeom prst="rect">
            <a:avLst/>
          </a:prstGeom>
          <a:noFill/>
        </p:spPr>
        <p:txBody>
          <a:bodyPr wrap="square" rtlCol="0">
            <a:spAutoFit/>
          </a:bodyPr>
          <a:lstStyle/>
          <a:p>
            <a:r>
              <a:rPr lang="en-GB" dirty="0"/>
              <a:t>$ </a:t>
            </a:r>
            <a:r>
              <a:rPr lang="en-GB" dirty="0" err="1"/>
              <a:t>snakemake</a:t>
            </a:r>
            <a:r>
              <a:rPr lang="en-GB" dirty="0"/>
              <a:t> -c1 all --summary</a:t>
            </a:r>
          </a:p>
          <a:p>
            <a:endParaRPr lang="en-GB" dirty="0"/>
          </a:p>
          <a:p>
            <a:r>
              <a:rPr lang="en-GB" dirty="0"/>
              <a:t>or</a:t>
            </a:r>
          </a:p>
          <a:p>
            <a:endParaRPr lang="en-GB" dirty="0"/>
          </a:p>
          <a:p>
            <a:r>
              <a:rPr lang="en-GB" dirty="0"/>
              <a:t>$ </a:t>
            </a:r>
            <a:r>
              <a:rPr lang="en-GB" dirty="0" err="1"/>
              <a:t>snakemake</a:t>
            </a:r>
            <a:r>
              <a:rPr lang="en-GB" dirty="0"/>
              <a:t> -c1 all --dry-run</a:t>
            </a:r>
          </a:p>
        </p:txBody>
      </p:sp>
      <p:sp>
        <p:nvSpPr>
          <p:cNvPr id="5" name="TextBox 4">
            <a:extLst>
              <a:ext uri="{FF2B5EF4-FFF2-40B4-BE49-F238E27FC236}">
                <a16:creationId xmlns:a16="http://schemas.microsoft.com/office/drawing/2014/main" id="{74398B19-63A3-2D31-0337-9CFA0678F821}"/>
              </a:ext>
            </a:extLst>
          </p:cNvPr>
          <p:cNvSpPr txBox="1"/>
          <p:nvPr/>
        </p:nvSpPr>
        <p:spPr>
          <a:xfrm>
            <a:off x="761799" y="1951672"/>
            <a:ext cx="4887887" cy="646331"/>
          </a:xfrm>
          <a:prstGeom prst="rect">
            <a:avLst/>
          </a:prstGeom>
          <a:noFill/>
        </p:spPr>
        <p:txBody>
          <a:bodyPr wrap="square">
            <a:spAutoFit/>
          </a:bodyPr>
          <a:lstStyle/>
          <a:p>
            <a:pPr algn="just"/>
            <a:r>
              <a:rPr lang="en-GB" dirty="0"/>
              <a:t>Rule outputs can be listed on shell by using the --summary option or –dry-run.</a:t>
            </a:r>
            <a:endParaRPr lang="en-GB" dirty="0">
              <a:latin typeface="Aptos" panose="020B0004020202020204" pitchFamily="34" charset="0"/>
            </a:endParaRPr>
          </a:p>
        </p:txBody>
      </p:sp>
      <p:sp>
        <p:nvSpPr>
          <p:cNvPr id="10" name="TextBox 9">
            <a:extLst>
              <a:ext uri="{FF2B5EF4-FFF2-40B4-BE49-F238E27FC236}">
                <a16:creationId xmlns:a16="http://schemas.microsoft.com/office/drawing/2014/main" id="{4FC8A5A4-180A-3CE1-53D5-E48BC895D394}"/>
              </a:ext>
            </a:extLst>
          </p:cNvPr>
          <p:cNvSpPr txBox="1"/>
          <p:nvPr/>
        </p:nvSpPr>
        <p:spPr>
          <a:xfrm>
            <a:off x="761799" y="5022714"/>
            <a:ext cx="2790523" cy="1200329"/>
          </a:xfrm>
          <a:prstGeom prst="rect">
            <a:avLst/>
          </a:prstGeom>
          <a:solidFill>
            <a:schemeClr val="accent6">
              <a:lumMod val="75000"/>
            </a:schemeClr>
          </a:solidFill>
          <a:ln>
            <a:solidFill>
              <a:schemeClr val="accent6">
                <a:lumMod val="75000"/>
              </a:schemeClr>
            </a:solidFill>
          </a:ln>
        </p:spPr>
        <p:txBody>
          <a:bodyPr wrap="square" rtlCol="0">
            <a:spAutoFit/>
          </a:bodyPr>
          <a:lstStyle/>
          <a:p>
            <a:r>
              <a:rPr lang="en-GB" dirty="0">
                <a:solidFill>
                  <a:schemeClr val="bg1"/>
                </a:solidFill>
              </a:rPr>
              <a:t>“plot/file1.root”</a:t>
            </a:r>
          </a:p>
          <a:p>
            <a:r>
              <a:rPr lang="en-GB" dirty="0">
                <a:solidFill>
                  <a:schemeClr val="bg1"/>
                </a:solidFill>
              </a:rPr>
              <a:t>“plot/ file1.png”</a:t>
            </a:r>
          </a:p>
          <a:p>
            <a:r>
              <a:rPr lang="en-GB" dirty="0">
                <a:solidFill>
                  <a:schemeClr val="bg1"/>
                </a:solidFill>
              </a:rPr>
              <a:t>“plot/ file2.root”</a:t>
            </a:r>
          </a:p>
          <a:p>
            <a:r>
              <a:rPr lang="en-GB" dirty="0">
                <a:solidFill>
                  <a:schemeClr val="bg1"/>
                </a:solidFill>
              </a:rPr>
              <a:t>“plot/ file2.png”</a:t>
            </a:r>
          </a:p>
        </p:txBody>
      </p:sp>
      <p:cxnSp>
        <p:nvCxnSpPr>
          <p:cNvPr id="12" name="Straight Connector 11">
            <a:extLst>
              <a:ext uri="{FF2B5EF4-FFF2-40B4-BE49-F238E27FC236}">
                <a16:creationId xmlns:a16="http://schemas.microsoft.com/office/drawing/2014/main" id="{652376B6-017E-AF82-1AB4-60FE81987ADB}"/>
              </a:ext>
            </a:extLst>
          </p:cNvPr>
          <p:cNvCxnSpPr/>
          <p:nvPr/>
        </p:nvCxnSpPr>
        <p:spPr>
          <a:xfrm>
            <a:off x="5889171" y="664029"/>
            <a:ext cx="0" cy="5823857"/>
          </a:xfrm>
          <a:prstGeom prst="line">
            <a:avLst/>
          </a:prstGeom>
        </p:spPr>
        <p:style>
          <a:lnRef idx="2">
            <a:schemeClr val="accent1"/>
          </a:lnRef>
          <a:fillRef idx="0">
            <a:schemeClr val="accent1"/>
          </a:fillRef>
          <a:effectRef idx="1">
            <a:schemeClr val="accent1"/>
          </a:effectRef>
          <a:fontRef idx="minor">
            <a:schemeClr val="tx1"/>
          </a:fontRef>
        </p:style>
      </p:cxnSp>
      <p:sp>
        <p:nvSpPr>
          <p:cNvPr id="13" name="Title 1">
            <a:extLst>
              <a:ext uri="{FF2B5EF4-FFF2-40B4-BE49-F238E27FC236}">
                <a16:creationId xmlns:a16="http://schemas.microsoft.com/office/drawing/2014/main" id="{C1E6078B-1E5A-4962-9894-92E45968CF0D}"/>
              </a:ext>
            </a:extLst>
          </p:cNvPr>
          <p:cNvSpPr txBox="1">
            <a:spLocks/>
          </p:cNvSpPr>
          <p:nvPr/>
        </p:nvSpPr>
        <p:spPr>
          <a:xfrm>
            <a:off x="6030486" y="762001"/>
            <a:ext cx="5747857" cy="1708242"/>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t>Parallelizing tasks </a:t>
            </a:r>
            <a:br>
              <a:rPr lang="en-GB" b="1" dirty="0"/>
            </a:br>
            <a:br>
              <a:rPr lang="en-GB" b="1" dirty="0"/>
            </a:br>
            <a:endParaRPr lang="en-US" sz="4000" b="1" dirty="0"/>
          </a:p>
        </p:txBody>
      </p:sp>
      <p:sp>
        <p:nvSpPr>
          <p:cNvPr id="14" name="TextBox 13">
            <a:extLst>
              <a:ext uri="{FF2B5EF4-FFF2-40B4-BE49-F238E27FC236}">
                <a16:creationId xmlns:a16="http://schemas.microsoft.com/office/drawing/2014/main" id="{5122A0EC-44D3-50C4-36EB-E123409B7F37}"/>
              </a:ext>
            </a:extLst>
          </p:cNvPr>
          <p:cNvSpPr txBox="1"/>
          <p:nvPr/>
        </p:nvSpPr>
        <p:spPr>
          <a:xfrm>
            <a:off x="6226629" y="1951672"/>
            <a:ext cx="5693028" cy="1200329"/>
          </a:xfrm>
          <a:prstGeom prst="rect">
            <a:avLst/>
          </a:prstGeom>
          <a:noFill/>
        </p:spPr>
        <p:txBody>
          <a:bodyPr wrap="square" rtlCol="0">
            <a:spAutoFit/>
          </a:bodyPr>
          <a:lstStyle/>
          <a:p>
            <a:r>
              <a:rPr lang="en-GB" dirty="0"/>
              <a:t>Tasks can be parallelized by setting the number of workers (-c).</a:t>
            </a:r>
          </a:p>
          <a:p>
            <a:endParaRPr lang="en-GB" dirty="0"/>
          </a:p>
          <a:p>
            <a:endParaRPr lang="en-GB" dirty="0"/>
          </a:p>
        </p:txBody>
      </p:sp>
      <p:sp>
        <p:nvSpPr>
          <p:cNvPr id="16" name="TextBox 15">
            <a:extLst>
              <a:ext uri="{FF2B5EF4-FFF2-40B4-BE49-F238E27FC236}">
                <a16:creationId xmlns:a16="http://schemas.microsoft.com/office/drawing/2014/main" id="{FAFF32DA-3428-47E7-9091-8288B72BFB25}"/>
              </a:ext>
            </a:extLst>
          </p:cNvPr>
          <p:cNvSpPr txBox="1"/>
          <p:nvPr/>
        </p:nvSpPr>
        <p:spPr>
          <a:xfrm>
            <a:off x="6226629" y="2862912"/>
            <a:ext cx="3410150" cy="369332"/>
          </a:xfrm>
          <a:prstGeom prst="rect">
            <a:avLst/>
          </a:prstGeom>
          <a:noFill/>
        </p:spPr>
        <p:txBody>
          <a:bodyPr wrap="square">
            <a:spAutoFit/>
          </a:bodyPr>
          <a:lstStyle/>
          <a:p>
            <a:r>
              <a:rPr lang="en-GB" dirty="0"/>
              <a:t>$ </a:t>
            </a:r>
            <a:r>
              <a:rPr lang="en-GB" dirty="0" err="1"/>
              <a:t>snakemake</a:t>
            </a:r>
            <a:r>
              <a:rPr lang="en-GB" dirty="0"/>
              <a:t> –c4 all</a:t>
            </a:r>
          </a:p>
        </p:txBody>
      </p:sp>
      <p:sp>
        <p:nvSpPr>
          <p:cNvPr id="17" name="TextBox 16">
            <a:extLst>
              <a:ext uri="{FF2B5EF4-FFF2-40B4-BE49-F238E27FC236}">
                <a16:creationId xmlns:a16="http://schemas.microsoft.com/office/drawing/2014/main" id="{FBC86AC9-F711-A87E-C1B7-714FE8C1E4A9}"/>
              </a:ext>
            </a:extLst>
          </p:cNvPr>
          <p:cNvSpPr txBox="1"/>
          <p:nvPr/>
        </p:nvSpPr>
        <p:spPr>
          <a:xfrm>
            <a:off x="6215742" y="3544670"/>
            <a:ext cx="5693028" cy="646331"/>
          </a:xfrm>
          <a:prstGeom prst="rect">
            <a:avLst/>
          </a:prstGeom>
          <a:noFill/>
        </p:spPr>
        <p:txBody>
          <a:bodyPr wrap="square" rtlCol="0">
            <a:spAutoFit/>
          </a:bodyPr>
          <a:lstStyle/>
          <a:p>
            <a:r>
              <a:rPr lang="en-GB" dirty="0"/>
              <a:t>The previous command run all the 4 tasks  and produce the </a:t>
            </a:r>
            <a:r>
              <a:rPr lang="en-GB" dirty="0" err="1"/>
              <a:t>outpus</a:t>
            </a:r>
            <a:r>
              <a:rPr lang="en-GB" dirty="0"/>
              <a:t> in parallel.</a:t>
            </a:r>
          </a:p>
        </p:txBody>
      </p:sp>
    </p:spTree>
    <p:extLst>
      <p:ext uri="{BB962C8B-B14F-4D97-AF65-F5344CB8AC3E}">
        <p14:creationId xmlns:p14="http://schemas.microsoft.com/office/powerpoint/2010/main" val="81015461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1C3B38-A4C3-9F33-7209-E387CBA5A43D}"/>
            </a:ext>
          </a:extLst>
        </p:cNvPr>
        <p:cNvGrpSpPr/>
        <p:nvPr/>
      </p:nvGrpSpPr>
      <p:grpSpPr>
        <a:xfrm>
          <a:off x="0" y="0"/>
          <a:ext cx="0" cy="0"/>
          <a:chOff x="0" y="0"/>
          <a:chExt cx="0" cy="0"/>
        </a:xfrm>
      </p:grpSpPr>
      <p:sp useBgFill="1">
        <p:nvSpPr>
          <p:cNvPr id="21" name="Slide Background">
            <a:extLst>
              <a:ext uri="{FF2B5EF4-FFF2-40B4-BE49-F238E27FC236}">
                <a16:creationId xmlns:a16="http://schemas.microsoft.com/office/drawing/2014/main" id="{7C63B158-99CE-26DB-AD49-B99130DC8B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F37AD8-B11C-C97D-3CEF-FD1D36F5E854}"/>
              </a:ext>
            </a:extLst>
          </p:cNvPr>
          <p:cNvSpPr>
            <a:spLocks noGrp="1"/>
          </p:cNvSpPr>
          <p:nvPr>
            <p:ph type="title"/>
          </p:nvPr>
        </p:nvSpPr>
        <p:spPr>
          <a:xfrm>
            <a:off x="761800" y="762001"/>
            <a:ext cx="5747857" cy="1708242"/>
          </a:xfrm>
        </p:spPr>
        <p:txBody>
          <a:bodyPr vert="horz" lIns="91440" tIns="45720" rIns="91440" bIns="45720" rtlCol="0" anchor="ctr">
            <a:normAutofit fontScale="90000"/>
          </a:bodyPr>
          <a:lstStyle/>
          <a:p>
            <a:r>
              <a:rPr lang="en-GB" b="1" dirty="0"/>
              <a:t>Resource management</a:t>
            </a:r>
            <a:br>
              <a:rPr lang="en-GB" b="1" dirty="0"/>
            </a:br>
            <a:br>
              <a:rPr lang="en-GB" b="1" dirty="0"/>
            </a:br>
            <a:endParaRPr lang="en-US" sz="4000" b="1" dirty="0"/>
          </a:p>
        </p:txBody>
      </p:sp>
      <p:sp>
        <p:nvSpPr>
          <p:cNvPr id="27" name="TextBox 26">
            <a:extLst>
              <a:ext uri="{FF2B5EF4-FFF2-40B4-BE49-F238E27FC236}">
                <a16:creationId xmlns:a16="http://schemas.microsoft.com/office/drawing/2014/main" id="{B3A4FF3C-C0CF-4162-80DD-81D6A41C2453}"/>
              </a:ext>
            </a:extLst>
          </p:cNvPr>
          <p:cNvSpPr txBox="1"/>
          <p:nvPr/>
        </p:nvSpPr>
        <p:spPr>
          <a:xfrm>
            <a:off x="-3145971" y="-1948543"/>
            <a:ext cx="184731" cy="369332"/>
          </a:xfrm>
          <a:prstGeom prst="rect">
            <a:avLst/>
          </a:prstGeom>
          <a:noFill/>
        </p:spPr>
        <p:txBody>
          <a:bodyPr wrap="none" rtlCol="0">
            <a:spAutoFit/>
          </a:bodyPr>
          <a:lstStyle/>
          <a:p>
            <a:endParaRPr lang="en-GB" dirty="0"/>
          </a:p>
        </p:txBody>
      </p:sp>
      <p:sp>
        <p:nvSpPr>
          <p:cNvPr id="5" name="TextBox 4">
            <a:extLst>
              <a:ext uri="{FF2B5EF4-FFF2-40B4-BE49-F238E27FC236}">
                <a16:creationId xmlns:a16="http://schemas.microsoft.com/office/drawing/2014/main" id="{874BBF42-5292-27DC-F643-FD5C3AC1FB97}"/>
              </a:ext>
            </a:extLst>
          </p:cNvPr>
          <p:cNvSpPr txBox="1"/>
          <p:nvPr/>
        </p:nvSpPr>
        <p:spPr>
          <a:xfrm>
            <a:off x="761800" y="1373621"/>
            <a:ext cx="4996744" cy="1200329"/>
          </a:xfrm>
          <a:prstGeom prst="rect">
            <a:avLst/>
          </a:prstGeom>
          <a:noFill/>
        </p:spPr>
        <p:txBody>
          <a:bodyPr wrap="square">
            <a:spAutoFit/>
          </a:bodyPr>
          <a:lstStyle/>
          <a:p>
            <a:pPr algn="just"/>
            <a:r>
              <a:rPr lang="en-GB" dirty="0"/>
              <a:t>Resource management in </a:t>
            </a:r>
            <a:r>
              <a:rPr lang="en-GB" dirty="0" err="1"/>
              <a:t>Snakemake</a:t>
            </a:r>
            <a:r>
              <a:rPr lang="en-GB" dirty="0"/>
              <a:t> is about controlling how much </a:t>
            </a:r>
            <a:r>
              <a:rPr lang="en-GB" b="1" dirty="0"/>
              <a:t>CPU, memory, and time each rule is allowed to use</a:t>
            </a:r>
            <a:r>
              <a:rPr lang="en-GB" dirty="0"/>
              <a:t>, so workflows run efficiently on laptops, clusters, or HPC systems.</a:t>
            </a:r>
          </a:p>
        </p:txBody>
      </p:sp>
      <p:sp>
        <p:nvSpPr>
          <p:cNvPr id="8" name="TextBox 7">
            <a:extLst>
              <a:ext uri="{FF2B5EF4-FFF2-40B4-BE49-F238E27FC236}">
                <a16:creationId xmlns:a16="http://schemas.microsoft.com/office/drawing/2014/main" id="{50DE114D-48F4-94D4-D3FA-E225C5749DB3}"/>
              </a:ext>
            </a:extLst>
          </p:cNvPr>
          <p:cNvSpPr txBox="1"/>
          <p:nvPr/>
        </p:nvSpPr>
        <p:spPr>
          <a:xfrm>
            <a:off x="761800" y="3129065"/>
            <a:ext cx="4158543" cy="3416320"/>
          </a:xfrm>
          <a:prstGeom prst="rect">
            <a:avLst/>
          </a:prstGeom>
          <a:noFill/>
          <a:ln>
            <a:solidFill>
              <a:schemeClr val="accent6">
                <a:lumMod val="75000"/>
              </a:schemeClr>
            </a:solidFill>
          </a:ln>
        </p:spPr>
        <p:txBody>
          <a:bodyPr wrap="square">
            <a:spAutoFit/>
          </a:bodyPr>
          <a:lstStyle/>
          <a:p>
            <a:r>
              <a:rPr lang="en-GB" dirty="0"/>
              <a:t>rule </a:t>
            </a:r>
            <a:r>
              <a:rPr lang="en-GB" dirty="0" err="1"/>
              <a:t>plotHistogram</a:t>
            </a:r>
            <a:r>
              <a:rPr lang="en-GB" dirty="0"/>
              <a:t>:</a:t>
            </a:r>
          </a:p>
          <a:p>
            <a:r>
              <a:rPr lang="en-GB" dirty="0"/>
              <a:t>    input:</a:t>
            </a:r>
          </a:p>
          <a:p>
            <a:r>
              <a:rPr lang="en-GB" dirty="0"/>
              <a:t>        "data/{sample}.root"</a:t>
            </a:r>
          </a:p>
          <a:p>
            <a:r>
              <a:rPr lang="en-GB" dirty="0"/>
              <a:t>    output:</a:t>
            </a:r>
          </a:p>
          <a:p>
            <a:r>
              <a:rPr lang="en-GB" dirty="0"/>
              <a:t>        "plot/{sample}.</a:t>
            </a:r>
            <a:r>
              <a:rPr lang="en-GB" dirty="0" err="1"/>
              <a:t>png</a:t>
            </a:r>
            <a:r>
              <a:rPr lang="en-GB" dirty="0"/>
              <a:t>"</a:t>
            </a:r>
          </a:p>
          <a:p>
            <a:r>
              <a:rPr lang="en-GB" dirty="0"/>
              <a:t>    threads: 2</a:t>
            </a:r>
          </a:p>
          <a:p>
            <a:r>
              <a:rPr lang="en-GB" dirty="0"/>
              <a:t>    </a:t>
            </a:r>
            <a:r>
              <a:rPr lang="en-GB" b="1" dirty="0"/>
              <a:t>resources</a:t>
            </a:r>
            <a:r>
              <a:rPr lang="en-GB" dirty="0"/>
              <a:t>:</a:t>
            </a:r>
          </a:p>
          <a:p>
            <a:r>
              <a:rPr lang="en-GB" b="1" dirty="0"/>
              <a:t>        </a:t>
            </a:r>
            <a:r>
              <a:rPr lang="en-GB" b="1" dirty="0" err="1"/>
              <a:t>mem_mb</a:t>
            </a:r>
            <a:r>
              <a:rPr lang="en-GB" b="1" dirty="0"/>
              <a:t>=2000</a:t>
            </a:r>
          </a:p>
          <a:p>
            <a:r>
              <a:rPr lang="en-GB" b="1" dirty="0"/>
              <a:t>        runtime=10</a:t>
            </a:r>
          </a:p>
          <a:p>
            <a:r>
              <a:rPr lang="en-GB" b="1" dirty="0"/>
              <a:t>        threads=4</a:t>
            </a:r>
          </a:p>
          <a:p>
            <a:r>
              <a:rPr lang="en-GB" dirty="0"/>
              <a:t>    shell:</a:t>
            </a:r>
          </a:p>
          <a:p>
            <a:r>
              <a:rPr lang="en-GB" dirty="0"/>
              <a:t>        "python </a:t>
            </a:r>
            <a:r>
              <a:rPr lang="en-GB" dirty="0" err="1"/>
              <a:t>plot.py</a:t>
            </a:r>
            <a:r>
              <a:rPr lang="en-GB" dirty="0"/>
              <a:t> {input} {output}"</a:t>
            </a:r>
          </a:p>
        </p:txBody>
      </p:sp>
      <p:sp>
        <p:nvSpPr>
          <p:cNvPr id="11" name="TextBox 10">
            <a:extLst>
              <a:ext uri="{FF2B5EF4-FFF2-40B4-BE49-F238E27FC236}">
                <a16:creationId xmlns:a16="http://schemas.microsoft.com/office/drawing/2014/main" id="{0C6EEFC0-9E52-1AEF-9F4D-D728D23E8EEF}"/>
              </a:ext>
            </a:extLst>
          </p:cNvPr>
          <p:cNvSpPr txBox="1"/>
          <p:nvPr/>
        </p:nvSpPr>
        <p:spPr>
          <a:xfrm>
            <a:off x="5682143" y="3095096"/>
            <a:ext cx="6134098" cy="3970318"/>
          </a:xfrm>
          <a:prstGeom prst="rect">
            <a:avLst/>
          </a:prstGeom>
          <a:noFill/>
        </p:spPr>
        <p:txBody>
          <a:bodyPr wrap="square">
            <a:spAutoFit/>
          </a:bodyPr>
          <a:lstStyle/>
          <a:p>
            <a:r>
              <a:rPr lang="en-GB" b="0" i="0" u="none" strike="noStrike" dirty="0">
                <a:solidFill>
                  <a:srgbClr val="000000"/>
                </a:solidFill>
                <a:effectLst/>
                <a:latin typeface="-webkit-standard"/>
              </a:rPr>
              <a:t>What each field means?</a:t>
            </a:r>
          </a:p>
          <a:p>
            <a:pPr marL="742950" lvl="1" indent="-285750">
              <a:buFont typeface="Arial" panose="020B0604020202020204" pitchFamily="34" charset="0"/>
              <a:buChar char="•"/>
            </a:pPr>
            <a:r>
              <a:rPr lang="en-GB" b="1" dirty="0"/>
              <a:t>threads</a:t>
            </a:r>
          </a:p>
          <a:p>
            <a:pPr lvl="1"/>
            <a:r>
              <a:rPr lang="en-GB" dirty="0"/>
              <a:t>	How many CPU cores the rule can use.</a:t>
            </a:r>
          </a:p>
          <a:p>
            <a:pPr lvl="1"/>
            <a:r>
              <a:rPr lang="en-GB" dirty="0"/>
              <a:t>	Then you run </a:t>
            </a:r>
            <a:r>
              <a:rPr lang="en-GB" dirty="0" err="1"/>
              <a:t>Snakemake</a:t>
            </a:r>
            <a:r>
              <a:rPr lang="en-GB" dirty="0"/>
              <a:t> like</a:t>
            </a:r>
          </a:p>
          <a:p>
            <a:pPr lvl="1"/>
            <a:r>
              <a:rPr lang="en-GB" dirty="0"/>
              <a:t>		</a:t>
            </a:r>
          </a:p>
          <a:p>
            <a:pPr lvl="1"/>
            <a:r>
              <a:rPr lang="en-GB" dirty="0">
                <a:solidFill>
                  <a:schemeClr val="bg1"/>
                </a:solidFill>
                <a:highlight>
                  <a:srgbClr val="008000"/>
                </a:highlight>
              </a:rPr>
              <a:t>	$</a:t>
            </a:r>
            <a:r>
              <a:rPr lang="en-GB" dirty="0" err="1">
                <a:solidFill>
                  <a:schemeClr val="bg1"/>
                </a:solidFill>
                <a:highlight>
                  <a:srgbClr val="008000"/>
                </a:highlight>
              </a:rPr>
              <a:t>snakemake</a:t>
            </a:r>
            <a:r>
              <a:rPr lang="en-GB" dirty="0">
                <a:solidFill>
                  <a:schemeClr val="bg1"/>
                </a:solidFill>
                <a:highlight>
                  <a:srgbClr val="008000"/>
                </a:highlight>
              </a:rPr>
              <a:t> -j 8</a:t>
            </a:r>
          </a:p>
          <a:p>
            <a:pPr lvl="1"/>
            <a:endParaRPr lang="en-GB" dirty="0"/>
          </a:p>
          <a:p>
            <a:pPr lvl="1"/>
            <a:r>
              <a:rPr lang="en-GB" dirty="0"/>
              <a:t>	</a:t>
            </a:r>
            <a:r>
              <a:rPr lang="en-GB" dirty="0" err="1"/>
              <a:t>Snakemake</a:t>
            </a:r>
            <a:r>
              <a:rPr lang="en-GB" dirty="0"/>
              <a:t> will schedule jobs so total threads ≤ 8.</a:t>
            </a:r>
          </a:p>
          <a:p>
            <a:pPr marL="742950" lvl="1" indent="-285750">
              <a:buFont typeface="Arial" panose="020B0604020202020204" pitchFamily="34" charset="0"/>
              <a:buChar char="•"/>
            </a:pPr>
            <a:endParaRPr lang="en-GB" dirty="0"/>
          </a:p>
          <a:p>
            <a:pPr marL="742950" lvl="1" indent="-285750">
              <a:buFont typeface="Arial" panose="020B0604020202020204" pitchFamily="34" charset="0"/>
              <a:buChar char="•"/>
            </a:pPr>
            <a:r>
              <a:rPr lang="en-GB" dirty="0" err="1"/>
              <a:t>mem_mb</a:t>
            </a:r>
            <a:endParaRPr lang="en-GB" dirty="0"/>
          </a:p>
          <a:p>
            <a:pPr lvl="2"/>
            <a:r>
              <a:rPr lang="en-GB" dirty="0"/>
              <a:t>maximum memory per job</a:t>
            </a:r>
          </a:p>
          <a:p>
            <a:pPr marL="742950" lvl="1" indent="-285750">
              <a:buFont typeface="Arial" panose="020B0604020202020204" pitchFamily="34" charset="0"/>
              <a:buChar char="•"/>
            </a:pPr>
            <a:r>
              <a:rPr lang="en-GB" dirty="0"/>
              <a:t>runtime</a:t>
            </a:r>
          </a:p>
          <a:p>
            <a:pPr lvl="2"/>
            <a:r>
              <a:rPr lang="en-GB" dirty="0"/>
              <a:t>maximum job time.</a:t>
            </a:r>
          </a:p>
          <a:p>
            <a:endParaRPr lang="en-GB" dirty="0"/>
          </a:p>
        </p:txBody>
      </p:sp>
      <p:pic>
        <p:nvPicPr>
          <p:cNvPr id="15366" name="Picture 6" descr="What is Resource Management and Why Is It Important? - GeeksforGeeks">
            <a:extLst>
              <a:ext uri="{FF2B5EF4-FFF2-40B4-BE49-F238E27FC236}">
                <a16:creationId xmlns:a16="http://schemas.microsoft.com/office/drawing/2014/main" id="{3B7B848E-2AD2-F123-889A-A47962E127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2412" y="250202"/>
            <a:ext cx="3577216" cy="2558539"/>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D24444E6-B667-40A1-E1D7-ED26DE9A3E53}"/>
              </a:ext>
            </a:extLst>
          </p:cNvPr>
          <p:cNvSpPr txBox="1"/>
          <p:nvPr/>
        </p:nvSpPr>
        <p:spPr>
          <a:xfrm>
            <a:off x="657938" y="2759733"/>
            <a:ext cx="1097673" cy="369332"/>
          </a:xfrm>
          <a:prstGeom prst="rect">
            <a:avLst/>
          </a:prstGeom>
          <a:noFill/>
        </p:spPr>
        <p:txBody>
          <a:bodyPr wrap="none" rtlCol="0">
            <a:spAutoFit/>
          </a:bodyPr>
          <a:lstStyle/>
          <a:p>
            <a:r>
              <a:rPr lang="en-GB" dirty="0" err="1"/>
              <a:t>Snakefile</a:t>
            </a:r>
            <a:endParaRPr lang="en-GB" dirty="0"/>
          </a:p>
        </p:txBody>
      </p:sp>
    </p:spTree>
    <p:extLst>
      <p:ext uri="{BB962C8B-B14F-4D97-AF65-F5344CB8AC3E}">
        <p14:creationId xmlns:p14="http://schemas.microsoft.com/office/powerpoint/2010/main" val="285055232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F604CF-105B-2612-B890-CBB53134F75A}"/>
            </a:ext>
          </a:extLst>
        </p:cNvPr>
        <p:cNvGrpSpPr/>
        <p:nvPr/>
      </p:nvGrpSpPr>
      <p:grpSpPr>
        <a:xfrm>
          <a:off x="0" y="0"/>
          <a:ext cx="0" cy="0"/>
          <a:chOff x="0" y="0"/>
          <a:chExt cx="0" cy="0"/>
        </a:xfrm>
      </p:grpSpPr>
      <p:sp useBgFill="1">
        <p:nvSpPr>
          <p:cNvPr id="21" name="Slide Background">
            <a:extLst>
              <a:ext uri="{FF2B5EF4-FFF2-40B4-BE49-F238E27FC236}">
                <a16:creationId xmlns:a16="http://schemas.microsoft.com/office/drawing/2014/main" id="{7CE4D871-F27C-784D-8A19-06CA8BE8A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FA881B-6894-6575-0A29-139D78119B7B}"/>
              </a:ext>
            </a:extLst>
          </p:cNvPr>
          <p:cNvSpPr>
            <a:spLocks noGrp="1"/>
          </p:cNvSpPr>
          <p:nvPr>
            <p:ph type="title"/>
          </p:nvPr>
        </p:nvSpPr>
        <p:spPr>
          <a:xfrm>
            <a:off x="761800" y="762001"/>
            <a:ext cx="7075914" cy="1708242"/>
          </a:xfrm>
        </p:spPr>
        <p:txBody>
          <a:bodyPr vert="horz" lIns="91440" tIns="45720" rIns="91440" bIns="45720" rtlCol="0" anchor="ctr">
            <a:normAutofit fontScale="90000"/>
          </a:bodyPr>
          <a:lstStyle/>
          <a:p>
            <a:r>
              <a:rPr lang="en-GB" b="1" dirty="0"/>
              <a:t>Environment setting with Conda</a:t>
            </a:r>
            <a:br>
              <a:rPr lang="en-GB" b="1" dirty="0"/>
            </a:br>
            <a:br>
              <a:rPr lang="en-GB" b="1" dirty="0"/>
            </a:br>
            <a:endParaRPr lang="en-US" sz="4000" b="1" dirty="0"/>
          </a:p>
        </p:txBody>
      </p:sp>
      <p:sp>
        <p:nvSpPr>
          <p:cNvPr id="27" name="TextBox 26">
            <a:extLst>
              <a:ext uri="{FF2B5EF4-FFF2-40B4-BE49-F238E27FC236}">
                <a16:creationId xmlns:a16="http://schemas.microsoft.com/office/drawing/2014/main" id="{DD87B2C2-F17B-3B1F-9533-7B29CBC6F338}"/>
              </a:ext>
            </a:extLst>
          </p:cNvPr>
          <p:cNvSpPr txBox="1"/>
          <p:nvPr/>
        </p:nvSpPr>
        <p:spPr>
          <a:xfrm>
            <a:off x="-3145971" y="-1948543"/>
            <a:ext cx="184731" cy="369332"/>
          </a:xfrm>
          <a:prstGeom prst="rect">
            <a:avLst/>
          </a:prstGeom>
          <a:noFill/>
        </p:spPr>
        <p:txBody>
          <a:bodyPr wrap="none" rtlCol="0">
            <a:spAutoFit/>
          </a:bodyPr>
          <a:lstStyle/>
          <a:p>
            <a:endParaRPr lang="en-GB" dirty="0"/>
          </a:p>
        </p:txBody>
      </p:sp>
      <p:sp>
        <p:nvSpPr>
          <p:cNvPr id="5" name="TextBox 4">
            <a:extLst>
              <a:ext uri="{FF2B5EF4-FFF2-40B4-BE49-F238E27FC236}">
                <a16:creationId xmlns:a16="http://schemas.microsoft.com/office/drawing/2014/main" id="{F5A39988-61AE-7F9B-8EC7-0A7ABD0FCC19}"/>
              </a:ext>
            </a:extLst>
          </p:cNvPr>
          <p:cNvSpPr txBox="1"/>
          <p:nvPr/>
        </p:nvSpPr>
        <p:spPr>
          <a:xfrm>
            <a:off x="761800" y="1616122"/>
            <a:ext cx="5943800" cy="923330"/>
          </a:xfrm>
          <a:prstGeom prst="rect">
            <a:avLst/>
          </a:prstGeom>
          <a:noFill/>
        </p:spPr>
        <p:txBody>
          <a:bodyPr wrap="square">
            <a:spAutoFit/>
          </a:bodyPr>
          <a:lstStyle/>
          <a:p>
            <a:r>
              <a:rPr lang="en-GB" dirty="0"/>
              <a:t>Using Conda with </a:t>
            </a:r>
            <a:r>
              <a:rPr lang="en-GB" dirty="0" err="1"/>
              <a:t>Snakemake</a:t>
            </a:r>
            <a:r>
              <a:rPr lang="en-GB" dirty="0"/>
              <a:t> is one of its most powerful features because it lets each rule run in its own isolated environment.</a:t>
            </a:r>
          </a:p>
        </p:txBody>
      </p:sp>
      <p:sp>
        <p:nvSpPr>
          <p:cNvPr id="8" name="TextBox 7">
            <a:extLst>
              <a:ext uri="{FF2B5EF4-FFF2-40B4-BE49-F238E27FC236}">
                <a16:creationId xmlns:a16="http://schemas.microsoft.com/office/drawing/2014/main" id="{F3D821D1-2BD4-0CA2-F667-14771CEAAE39}"/>
              </a:ext>
            </a:extLst>
          </p:cNvPr>
          <p:cNvSpPr txBox="1"/>
          <p:nvPr/>
        </p:nvSpPr>
        <p:spPr>
          <a:xfrm>
            <a:off x="761800" y="3583719"/>
            <a:ext cx="4158543" cy="2862322"/>
          </a:xfrm>
          <a:prstGeom prst="rect">
            <a:avLst/>
          </a:prstGeom>
          <a:noFill/>
          <a:ln>
            <a:solidFill>
              <a:schemeClr val="accent6">
                <a:lumMod val="75000"/>
              </a:schemeClr>
            </a:solidFill>
          </a:ln>
        </p:spPr>
        <p:txBody>
          <a:bodyPr wrap="square">
            <a:spAutoFit/>
          </a:bodyPr>
          <a:lstStyle/>
          <a:p>
            <a:r>
              <a:rPr lang="en-GB" dirty="0"/>
              <a:t>rule </a:t>
            </a:r>
            <a:r>
              <a:rPr lang="en-GB" dirty="0" err="1"/>
              <a:t>plotHistogram</a:t>
            </a:r>
            <a:r>
              <a:rPr lang="en-GB" dirty="0"/>
              <a:t>:</a:t>
            </a:r>
          </a:p>
          <a:p>
            <a:r>
              <a:rPr lang="en-GB" dirty="0"/>
              <a:t>    input:</a:t>
            </a:r>
          </a:p>
          <a:p>
            <a:r>
              <a:rPr lang="en-GB" dirty="0"/>
              <a:t>        "data/{sample}.root"</a:t>
            </a:r>
          </a:p>
          <a:p>
            <a:r>
              <a:rPr lang="en-GB" dirty="0"/>
              <a:t>    output:</a:t>
            </a:r>
          </a:p>
          <a:p>
            <a:r>
              <a:rPr lang="en-GB" dirty="0"/>
              <a:t>        "plot/{sample}.</a:t>
            </a:r>
            <a:r>
              <a:rPr lang="en-GB" dirty="0" err="1"/>
              <a:t>png</a:t>
            </a:r>
            <a:r>
              <a:rPr lang="en-GB" dirty="0"/>
              <a:t>"</a:t>
            </a:r>
          </a:p>
          <a:p>
            <a:r>
              <a:rPr lang="en-GB" dirty="0"/>
              <a:t>    threads: 2</a:t>
            </a:r>
          </a:p>
          <a:p>
            <a:r>
              <a:rPr lang="en-GB" b="1" dirty="0"/>
              <a:t>   </a:t>
            </a:r>
            <a:r>
              <a:rPr lang="en-GB" b="1" dirty="0" err="1"/>
              <a:t>conda</a:t>
            </a:r>
            <a:r>
              <a:rPr lang="en-GB" b="1" dirty="0"/>
              <a:t>:</a:t>
            </a:r>
          </a:p>
          <a:p>
            <a:r>
              <a:rPr lang="en-GB" b="1" dirty="0"/>
              <a:t>	“</a:t>
            </a:r>
            <a:r>
              <a:rPr lang="en-GB" b="1" dirty="0" err="1"/>
              <a:t>envs</a:t>
            </a:r>
            <a:r>
              <a:rPr lang="en-GB" b="1" dirty="0"/>
              <a:t>/</a:t>
            </a:r>
            <a:r>
              <a:rPr lang="en-GB" b="1" dirty="0" err="1"/>
              <a:t>plot.yaml</a:t>
            </a:r>
            <a:r>
              <a:rPr lang="en-GB" b="1" dirty="0"/>
              <a:t>”</a:t>
            </a:r>
          </a:p>
          <a:p>
            <a:r>
              <a:rPr lang="en-GB" dirty="0"/>
              <a:t>    shell:</a:t>
            </a:r>
          </a:p>
          <a:p>
            <a:r>
              <a:rPr lang="en-GB" dirty="0"/>
              <a:t>        "python </a:t>
            </a:r>
            <a:r>
              <a:rPr lang="en-GB" dirty="0" err="1"/>
              <a:t>plot.py</a:t>
            </a:r>
            <a:r>
              <a:rPr lang="en-GB" dirty="0"/>
              <a:t> {input} {output}"</a:t>
            </a:r>
          </a:p>
        </p:txBody>
      </p:sp>
      <p:pic>
        <p:nvPicPr>
          <p:cNvPr id="17411" name="Picture 3" descr="Kissing snakes in heart shape Stock Illustration by ©magnolija_three  #99014074">
            <a:extLst>
              <a:ext uri="{FF2B5EF4-FFF2-40B4-BE49-F238E27FC236}">
                <a16:creationId xmlns:a16="http://schemas.microsoft.com/office/drawing/2014/main" id="{0276FA2F-DBA8-391F-2EE0-B496DF3DD2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4212" y="106528"/>
            <a:ext cx="2857500" cy="28575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C3D1BCF-317B-0089-47B2-0F82E82E1277}"/>
              </a:ext>
            </a:extLst>
          </p:cNvPr>
          <p:cNvSpPr txBox="1"/>
          <p:nvPr/>
        </p:nvSpPr>
        <p:spPr>
          <a:xfrm>
            <a:off x="8493471" y="2725764"/>
            <a:ext cx="2598981" cy="369332"/>
          </a:xfrm>
          <a:prstGeom prst="rect">
            <a:avLst/>
          </a:prstGeom>
          <a:noFill/>
        </p:spPr>
        <p:txBody>
          <a:bodyPr wrap="none" rtlCol="0">
            <a:spAutoFit/>
          </a:bodyPr>
          <a:lstStyle/>
          <a:p>
            <a:r>
              <a:rPr lang="en-GB" dirty="0" err="1"/>
              <a:t>Snakemake</a:t>
            </a:r>
            <a:r>
              <a:rPr lang="en-GB" dirty="0"/>
              <a:t> &amp; Anaconda</a:t>
            </a:r>
          </a:p>
        </p:txBody>
      </p:sp>
      <p:sp>
        <p:nvSpPr>
          <p:cNvPr id="7" name="TextBox 6">
            <a:extLst>
              <a:ext uri="{FF2B5EF4-FFF2-40B4-BE49-F238E27FC236}">
                <a16:creationId xmlns:a16="http://schemas.microsoft.com/office/drawing/2014/main" id="{31D2A728-C5AA-58BD-D0BC-0B4F92A76A73}"/>
              </a:ext>
            </a:extLst>
          </p:cNvPr>
          <p:cNvSpPr txBox="1"/>
          <p:nvPr/>
        </p:nvSpPr>
        <p:spPr>
          <a:xfrm>
            <a:off x="5157624" y="3583719"/>
            <a:ext cx="2891617" cy="2585323"/>
          </a:xfrm>
          <a:prstGeom prst="rect">
            <a:avLst/>
          </a:prstGeom>
          <a:noFill/>
          <a:ln>
            <a:solidFill>
              <a:schemeClr val="accent6">
                <a:lumMod val="75000"/>
              </a:schemeClr>
            </a:solidFill>
          </a:ln>
        </p:spPr>
        <p:txBody>
          <a:bodyPr wrap="square">
            <a:spAutoFit/>
          </a:bodyPr>
          <a:lstStyle/>
          <a:p>
            <a:r>
              <a:rPr lang="en-GB" dirty="0"/>
              <a:t>name: plot-env</a:t>
            </a:r>
          </a:p>
          <a:p>
            <a:r>
              <a:rPr lang="en-GB" dirty="0"/>
              <a:t>channels:</a:t>
            </a:r>
          </a:p>
          <a:p>
            <a:r>
              <a:rPr lang="en-GB" dirty="0"/>
              <a:t>  - </a:t>
            </a:r>
            <a:r>
              <a:rPr lang="en-GB" dirty="0" err="1"/>
              <a:t>conda</a:t>
            </a:r>
            <a:r>
              <a:rPr lang="en-GB" dirty="0"/>
              <a:t>-forge</a:t>
            </a:r>
          </a:p>
          <a:p>
            <a:r>
              <a:rPr lang="en-GB" dirty="0"/>
              <a:t>  - defaults</a:t>
            </a:r>
          </a:p>
          <a:p>
            <a:r>
              <a:rPr lang="en-GB" dirty="0"/>
              <a:t>dependencies:</a:t>
            </a:r>
          </a:p>
          <a:p>
            <a:r>
              <a:rPr lang="en-GB" dirty="0"/>
              <a:t>  - python=3.10</a:t>
            </a:r>
          </a:p>
          <a:p>
            <a:r>
              <a:rPr lang="en-GB" dirty="0"/>
              <a:t>  - matplotlib</a:t>
            </a:r>
          </a:p>
          <a:p>
            <a:r>
              <a:rPr lang="en-GB" dirty="0"/>
              <a:t>  - </a:t>
            </a:r>
            <a:r>
              <a:rPr lang="en-GB" dirty="0" err="1"/>
              <a:t>numpy</a:t>
            </a:r>
            <a:endParaRPr lang="en-GB" dirty="0"/>
          </a:p>
          <a:p>
            <a:r>
              <a:rPr lang="en-GB" dirty="0"/>
              <a:t>  - uproot</a:t>
            </a:r>
          </a:p>
        </p:txBody>
      </p:sp>
      <p:sp>
        <p:nvSpPr>
          <p:cNvPr id="9" name="TextBox 8">
            <a:extLst>
              <a:ext uri="{FF2B5EF4-FFF2-40B4-BE49-F238E27FC236}">
                <a16:creationId xmlns:a16="http://schemas.microsoft.com/office/drawing/2014/main" id="{EFA071F7-E7EA-915D-8CB7-B08AEE2E4D66}"/>
              </a:ext>
            </a:extLst>
          </p:cNvPr>
          <p:cNvSpPr txBox="1"/>
          <p:nvPr/>
        </p:nvSpPr>
        <p:spPr>
          <a:xfrm>
            <a:off x="5157624" y="3214387"/>
            <a:ext cx="1646733" cy="369332"/>
          </a:xfrm>
          <a:prstGeom prst="rect">
            <a:avLst/>
          </a:prstGeom>
          <a:noFill/>
        </p:spPr>
        <p:txBody>
          <a:bodyPr wrap="none" rtlCol="0">
            <a:spAutoFit/>
          </a:bodyPr>
          <a:lstStyle/>
          <a:p>
            <a:r>
              <a:rPr lang="en-GB" dirty="0" err="1"/>
              <a:t>envs</a:t>
            </a:r>
            <a:r>
              <a:rPr lang="en-GB" dirty="0"/>
              <a:t>/</a:t>
            </a:r>
            <a:r>
              <a:rPr lang="en-GB" dirty="0" err="1"/>
              <a:t>plot.yaml</a:t>
            </a:r>
            <a:endParaRPr lang="en-GB" dirty="0"/>
          </a:p>
        </p:txBody>
      </p:sp>
      <p:sp>
        <p:nvSpPr>
          <p:cNvPr id="10" name="TextBox 9">
            <a:extLst>
              <a:ext uri="{FF2B5EF4-FFF2-40B4-BE49-F238E27FC236}">
                <a16:creationId xmlns:a16="http://schemas.microsoft.com/office/drawing/2014/main" id="{9B79ACEB-D78B-A001-D8CC-3DD1ACBE6106}"/>
              </a:ext>
            </a:extLst>
          </p:cNvPr>
          <p:cNvSpPr txBox="1"/>
          <p:nvPr/>
        </p:nvSpPr>
        <p:spPr>
          <a:xfrm>
            <a:off x="761800" y="3232244"/>
            <a:ext cx="1097673" cy="369332"/>
          </a:xfrm>
          <a:prstGeom prst="rect">
            <a:avLst/>
          </a:prstGeom>
          <a:noFill/>
        </p:spPr>
        <p:txBody>
          <a:bodyPr wrap="none" rtlCol="0">
            <a:spAutoFit/>
          </a:bodyPr>
          <a:lstStyle/>
          <a:p>
            <a:r>
              <a:rPr lang="en-GB" dirty="0" err="1"/>
              <a:t>Snakefile</a:t>
            </a:r>
            <a:endParaRPr lang="en-GB" dirty="0"/>
          </a:p>
        </p:txBody>
      </p:sp>
      <p:sp>
        <p:nvSpPr>
          <p:cNvPr id="13" name="TextBox 12">
            <a:extLst>
              <a:ext uri="{FF2B5EF4-FFF2-40B4-BE49-F238E27FC236}">
                <a16:creationId xmlns:a16="http://schemas.microsoft.com/office/drawing/2014/main" id="{AD6FDC6F-7E79-6025-B802-2A874A57093D}"/>
              </a:ext>
            </a:extLst>
          </p:cNvPr>
          <p:cNvSpPr txBox="1"/>
          <p:nvPr/>
        </p:nvSpPr>
        <p:spPr>
          <a:xfrm>
            <a:off x="8493471" y="3893973"/>
            <a:ext cx="3045386" cy="1200329"/>
          </a:xfrm>
          <a:prstGeom prst="rect">
            <a:avLst/>
          </a:prstGeom>
          <a:noFill/>
        </p:spPr>
        <p:txBody>
          <a:bodyPr wrap="square">
            <a:spAutoFit/>
          </a:bodyPr>
          <a:lstStyle/>
          <a:p>
            <a:pPr algn="l">
              <a:buNone/>
            </a:pPr>
            <a:r>
              <a:rPr lang="en-GB" b="0" i="0" dirty="0">
                <a:solidFill>
                  <a:srgbClr val="000000"/>
                </a:solidFill>
                <a:effectLst/>
              </a:rPr>
              <a:t>This ensures:</a:t>
            </a:r>
          </a:p>
          <a:p>
            <a:pPr algn="l">
              <a:buFont typeface="Arial" panose="020B0604020202020204" pitchFamily="34" charset="0"/>
              <a:buChar char="•"/>
            </a:pPr>
            <a:r>
              <a:rPr lang="en-GB" b="0" i="0" dirty="0">
                <a:solidFill>
                  <a:srgbClr val="000000"/>
                </a:solidFill>
                <a:effectLst/>
              </a:rPr>
              <a:t>reproducible Python version</a:t>
            </a:r>
          </a:p>
          <a:p>
            <a:pPr algn="l">
              <a:buFont typeface="Arial" panose="020B0604020202020204" pitchFamily="34" charset="0"/>
              <a:buChar char="•"/>
            </a:pPr>
            <a:r>
              <a:rPr lang="en-GB" b="0" i="0" dirty="0">
                <a:solidFill>
                  <a:srgbClr val="000000"/>
                </a:solidFill>
                <a:effectLst/>
              </a:rPr>
              <a:t>correct packages</a:t>
            </a:r>
          </a:p>
          <a:p>
            <a:pPr algn="l">
              <a:buFont typeface="Arial" panose="020B0604020202020204" pitchFamily="34" charset="0"/>
              <a:buChar char="•"/>
            </a:pPr>
            <a:r>
              <a:rPr lang="en-GB" b="0" i="0" dirty="0">
                <a:solidFill>
                  <a:srgbClr val="000000"/>
                </a:solidFill>
                <a:effectLst/>
              </a:rPr>
              <a:t>no system conflicts</a:t>
            </a:r>
          </a:p>
        </p:txBody>
      </p:sp>
      <p:sp>
        <p:nvSpPr>
          <p:cNvPr id="17" name="TextBox 16">
            <a:extLst>
              <a:ext uri="{FF2B5EF4-FFF2-40B4-BE49-F238E27FC236}">
                <a16:creationId xmlns:a16="http://schemas.microsoft.com/office/drawing/2014/main" id="{D4252C47-8BE8-A97D-0646-75EADCDDDD27}"/>
              </a:ext>
            </a:extLst>
          </p:cNvPr>
          <p:cNvSpPr txBox="1"/>
          <p:nvPr/>
        </p:nvSpPr>
        <p:spPr>
          <a:xfrm>
            <a:off x="695227" y="2747497"/>
            <a:ext cx="7668984" cy="369332"/>
          </a:xfrm>
          <a:prstGeom prst="rect">
            <a:avLst/>
          </a:prstGeom>
          <a:noFill/>
        </p:spPr>
        <p:txBody>
          <a:bodyPr wrap="square">
            <a:spAutoFit/>
          </a:bodyPr>
          <a:lstStyle/>
          <a:p>
            <a:r>
              <a:rPr lang="en-GB" dirty="0">
                <a:solidFill>
                  <a:schemeClr val="bg1"/>
                </a:solidFill>
                <a:highlight>
                  <a:srgbClr val="008000"/>
                </a:highlight>
              </a:rPr>
              <a:t>$ </a:t>
            </a:r>
            <a:r>
              <a:rPr lang="en-GB" dirty="0" err="1">
                <a:solidFill>
                  <a:schemeClr val="bg1"/>
                </a:solidFill>
                <a:highlight>
                  <a:srgbClr val="008000"/>
                </a:highlight>
              </a:rPr>
              <a:t>snakemake</a:t>
            </a:r>
            <a:r>
              <a:rPr lang="en-GB" dirty="0">
                <a:solidFill>
                  <a:schemeClr val="bg1"/>
                </a:solidFill>
                <a:highlight>
                  <a:srgbClr val="008000"/>
                </a:highlight>
              </a:rPr>
              <a:t> --use-</a:t>
            </a:r>
            <a:r>
              <a:rPr lang="en-GB" dirty="0" err="1">
                <a:solidFill>
                  <a:schemeClr val="bg1"/>
                </a:solidFill>
                <a:highlight>
                  <a:srgbClr val="008000"/>
                </a:highlight>
              </a:rPr>
              <a:t>conda</a:t>
            </a:r>
            <a:r>
              <a:rPr lang="en-GB" dirty="0">
                <a:solidFill>
                  <a:schemeClr val="bg1"/>
                </a:solidFill>
                <a:highlight>
                  <a:srgbClr val="008000"/>
                </a:highlight>
              </a:rPr>
              <a:t> -j 4</a:t>
            </a:r>
          </a:p>
        </p:txBody>
      </p:sp>
    </p:spTree>
    <p:extLst>
      <p:ext uri="{BB962C8B-B14F-4D97-AF65-F5344CB8AC3E}">
        <p14:creationId xmlns:p14="http://schemas.microsoft.com/office/powerpoint/2010/main" val="267592031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117AF6-ED3B-7637-8810-2629FFD7A199}"/>
            </a:ext>
          </a:extLst>
        </p:cNvPr>
        <p:cNvGrpSpPr/>
        <p:nvPr/>
      </p:nvGrpSpPr>
      <p:grpSpPr>
        <a:xfrm>
          <a:off x="0" y="0"/>
          <a:ext cx="0" cy="0"/>
          <a:chOff x="0" y="0"/>
          <a:chExt cx="0" cy="0"/>
        </a:xfrm>
      </p:grpSpPr>
      <p:sp useBgFill="1">
        <p:nvSpPr>
          <p:cNvPr id="21" name="Slide Background">
            <a:extLst>
              <a:ext uri="{FF2B5EF4-FFF2-40B4-BE49-F238E27FC236}">
                <a16:creationId xmlns:a16="http://schemas.microsoft.com/office/drawing/2014/main" id="{AD405820-C4B5-E5AD-15F8-FB7DD2659E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6C539D-AF0F-FB03-C36B-95A4904E4352}"/>
              </a:ext>
            </a:extLst>
          </p:cNvPr>
          <p:cNvSpPr>
            <a:spLocks noGrp="1"/>
          </p:cNvSpPr>
          <p:nvPr>
            <p:ph type="title"/>
          </p:nvPr>
        </p:nvSpPr>
        <p:spPr>
          <a:xfrm>
            <a:off x="761800" y="762001"/>
            <a:ext cx="6840612" cy="1708242"/>
          </a:xfrm>
        </p:spPr>
        <p:txBody>
          <a:bodyPr vert="horz" lIns="91440" tIns="45720" rIns="91440" bIns="45720" rtlCol="0" anchor="ctr">
            <a:normAutofit fontScale="90000"/>
          </a:bodyPr>
          <a:lstStyle/>
          <a:p>
            <a:r>
              <a:rPr lang="en-GB" b="1" dirty="0"/>
              <a:t>Modularization</a:t>
            </a:r>
            <a:br>
              <a:rPr lang="en-GB" b="1" dirty="0"/>
            </a:br>
            <a:br>
              <a:rPr lang="en-GB" b="1" dirty="0"/>
            </a:br>
            <a:endParaRPr lang="en-US" sz="4000" b="1" dirty="0"/>
          </a:p>
        </p:txBody>
      </p:sp>
      <p:sp>
        <p:nvSpPr>
          <p:cNvPr id="27" name="TextBox 26">
            <a:extLst>
              <a:ext uri="{FF2B5EF4-FFF2-40B4-BE49-F238E27FC236}">
                <a16:creationId xmlns:a16="http://schemas.microsoft.com/office/drawing/2014/main" id="{F67B94A5-8328-4EBA-292E-5A73F94A61CD}"/>
              </a:ext>
            </a:extLst>
          </p:cNvPr>
          <p:cNvSpPr txBox="1"/>
          <p:nvPr/>
        </p:nvSpPr>
        <p:spPr>
          <a:xfrm>
            <a:off x="-3145971" y="-1948543"/>
            <a:ext cx="184731" cy="369332"/>
          </a:xfrm>
          <a:prstGeom prst="rect">
            <a:avLst/>
          </a:prstGeom>
          <a:noFill/>
        </p:spPr>
        <p:txBody>
          <a:bodyPr wrap="none" rtlCol="0">
            <a:spAutoFit/>
          </a:bodyPr>
          <a:lstStyle/>
          <a:p>
            <a:endParaRPr lang="en-GB" dirty="0"/>
          </a:p>
        </p:txBody>
      </p:sp>
      <p:sp>
        <p:nvSpPr>
          <p:cNvPr id="11" name="TextBox 10">
            <a:extLst>
              <a:ext uri="{FF2B5EF4-FFF2-40B4-BE49-F238E27FC236}">
                <a16:creationId xmlns:a16="http://schemas.microsoft.com/office/drawing/2014/main" id="{1B31650B-0A37-93A6-6A39-345C76EC2684}"/>
              </a:ext>
            </a:extLst>
          </p:cNvPr>
          <p:cNvSpPr txBox="1"/>
          <p:nvPr/>
        </p:nvSpPr>
        <p:spPr>
          <a:xfrm>
            <a:off x="761800" y="1616122"/>
            <a:ext cx="6117971" cy="923330"/>
          </a:xfrm>
          <a:prstGeom prst="rect">
            <a:avLst/>
          </a:prstGeom>
          <a:noFill/>
        </p:spPr>
        <p:txBody>
          <a:bodyPr wrap="square">
            <a:spAutoFit/>
          </a:bodyPr>
          <a:lstStyle/>
          <a:p>
            <a:r>
              <a:rPr lang="en-GB" dirty="0"/>
              <a:t>Modularisation in </a:t>
            </a:r>
            <a:r>
              <a:rPr lang="en-GB" dirty="0" err="1"/>
              <a:t>Snakemake</a:t>
            </a:r>
            <a:r>
              <a:rPr lang="en-GB" dirty="0"/>
              <a:t> means splitting a large workflow into smaller reusable files (modules) instead of keeping everything in one huge </a:t>
            </a:r>
            <a:r>
              <a:rPr lang="en-GB" dirty="0" err="1"/>
              <a:t>snakefile</a:t>
            </a:r>
            <a:r>
              <a:rPr lang="en-GB" dirty="0"/>
              <a:t>.</a:t>
            </a:r>
          </a:p>
        </p:txBody>
      </p:sp>
      <p:sp>
        <p:nvSpPr>
          <p:cNvPr id="14" name="TextBox 13">
            <a:extLst>
              <a:ext uri="{FF2B5EF4-FFF2-40B4-BE49-F238E27FC236}">
                <a16:creationId xmlns:a16="http://schemas.microsoft.com/office/drawing/2014/main" id="{02F818E5-FDE7-221A-1DE5-51E6C83CFEBE}"/>
              </a:ext>
            </a:extLst>
          </p:cNvPr>
          <p:cNvSpPr txBox="1"/>
          <p:nvPr/>
        </p:nvSpPr>
        <p:spPr>
          <a:xfrm>
            <a:off x="1089732" y="3529268"/>
            <a:ext cx="2395057" cy="1754326"/>
          </a:xfrm>
          <a:prstGeom prst="rect">
            <a:avLst/>
          </a:prstGeom>
          <a:noFill/>
        </p:spPr>
        <p:txBody>
          <a:bodyPr wrap="square">
            <a:spAutoFit/>
          </a:bodyPr>
          <a:lstStyle/>
          <a:p>
            <a:r>
              <a:rPr lang="en-GB" dirty="0"/>
              <a:t>workflow/</a:t>
            </a:r>
          </a:p>
          <a:p>
            <a:r>
              <a:rPr lang="en-GB" dirty="0"/>
              <a:t>    </a:t>
            </a:r>
            <a:r>
              <a:rPr lang="en-GB" dirty="0" err="1"/>
              <a:t>Snakefile</a:t>
            </a:r>
            <a:endParaRPr lang="en-GB" dirty="0"/>
          </a:p>
          <a:p>
            <a:r>
              <a:rPr lang="en-GB" dirty="0"/>
              <a:t>    rules/</a:t>
            </a:r>
          </a:p>
          <a:p>
            <a:r>
              <a:rPr lang="en-GB" dirty="0"/>
              <a:t>        </a:t>
            </a:r>
            <a:r>
              <a:rPr lang="en-GB" dirty="0" err="1"/>
              <a:t>plotting.smk</a:t>
            </a:r>
            <a:endParaRPr lang="en-GB" dirty="0"/>
          </a:p>
          <a:p>
            <a:r>
              <a:rPr lang="en-GB" dirty="0"/>
              <a:t>    </a:t>
            </a:r>
            <a:r>
              <a:rPr lang="en-GB" dirty="0" err="1"/>
              <a:t>envs</a:t>
            </a:r>
            <a:r>
              <a:rPr lang="en-GB" dirty="0"/>
              <a:t>/</a:t>
            </a:r>
          </a:p>
          <a:p>
            <a:r>
              <a:rPr lang="en-GB" dirty="0"/>
              <a:t>    scripts/</a:t>
            </a:r>
          </a:p>
        </p:txBody>
      </p:sp>
      <p:sp>
        <p:nvSpPr>
          <p:cNvPr id="15" name="TextBox 14">
            <a:extLst>
              <a:ext uri="{FF2B5EF4-FFF2-40B4-BE49-F238E27FC236}">
                <a16:creationId xmlns:a16="http://schemas.microsoft.com/office/drawing/2014/main" id="{5C5FE7AD-5C76-871D-8774-C50851E2CE86}"/>
              </a:ext>
            </a:extLst>
          </p:cNvPr>
          <p:cNvSpPr txBox="1"/>
          <p:nvPr/>
        </p:nvSpPr>
        <p:spPr>
          <a:xfrm>
            <a:off x="761800" y="2955880"/>
            <a:ext cx="5445978" cy="369332"/>
          </a:xfrm>
          <a:prstGeom prst="rect">
            <a:avLst/>
          </a:prstGeom>
          <a:noFill/>
        </p:spPr>
        <p:txBody>
          <a:bodyPr wrap="none" rtlCol="0">
            <a:spAutoFit/>
          </a:bodyPr>
          <a:lstStyle/>
          <a:p>
            <a:r>
              <a:rPr lang="en-GB" dirty="0"/>
              <a:t>Basic idea: Instead of one big </a:t>
            </a:r>
            <a:r>
              <a:rPr lang="en-GB" dirty="0" err="1"/>
              <a:t>snakefile</a:t>
            </a:r>
            <a:r>
              <a:rPr lang="en-GB" dirty="0"/>
              <a:t>, you split into:</a:t>
            </a:r>
          </a:p>
        </p:txBody>
      </p:sp>
      <p:sp>
        <p:nvSpPr>
          <p:cNvPr id="19" name="TextBox 18">
            <a:extLst>
              <a:ext uri="{FF2B5EF4-FFF2-40B4-BE49-F238E27FC236}">
                <a16:creationId xmlns:a16="http://schemas.microsoft.com/office/drawing/2014/main" id="{E9F9CAC3-CF0C-3089-9BCF-DF23DC1939E4}"/>
              </a:ext>
            </a:extLst>
          </p:cNvPr>
          <p:cNvSpPr txBox="1"/>
          <p:nvPr/>
        </p:nvSpPr>
        <p:spPr>
          <a:xfrm>
            <a:off x="7595708" y="3529268"/>
            <a:ext cx="2919892" cy="923330"/>
          </a:xfrm>
          <a:prstGeom prst="rect">
            <a:avLst/>
          </a:prstGeom>
          <a:noFill/>
        </p:spPr>
        <p:txBody>
          <a:bodyPr wrap="square">
            <a:spAutoFit/>
          </a:bodyPr>
          <a:lstStyle/>
          <a:p>
            <a:r>
              <a:rPr lang="en-GB" dirty="0"/>
              <a:t>module mapping:</a:t>
            </a:r>
          </a:p>
          <a:p>
            <a:r>
              <a:rPr lang="en-GB" dirty="0"/>
              <a:t>    </a:t>
            </a:r>
            <a:r>
              <a:rPr lang="en-GB" dirty="0" err="1"/>
              <a:t>snakefile</a:t>
            </a:r>
            <a:r>
              <a:rPr lang="en-GB" dirty="0"/>
              <a:t>:</a:t>
            </a:r>
          </a:p>
          <a:p>
            <a:r>
              <a:rPr lang="en-GB" dirty="0"/>
              <a:t>        "rules/</a:t>
            </a:r>
            <a:r>
              <a:rPr lang="en-GB" dirty="0" err="1"/>
              <a:t>plot.smk</a:t>
            </a:r>
            <a:r>
              <a:rPr lang="en-GB" dirty="0"/>
              <a:t>"</a:t>
            </a:r>
          </a:p>
        </p:txBody>
      </p:sp>
      <p:sp>
        <p:nvSpPr>
          <p:cNvPr id="20" name="TextBox 19">
            <a:extLst>
              <a:ext uri="{FF2B5EF4-FFF2-40B4-BE49-F238E27FC236}">
                <a16:creationId xmlns:a16="http://schemas.microsoft.com/office/drawing/2014/main" id="{9ACF222F-9CA2-1B67-76F7-863E6C6A1567}"/>
              </a:ext>
            </a:extLst>
          </p:cNvPr>
          <p:cNvSpPr txBox="1"/>
          <p:nvPr/>
        </p:nvSpPr>
        <p:spPr>
          <a:xfrm>
            <a:off x="6879771" y="2955880"/>
            <a:ext cx="902427" cy="369332"/>
          </a:xfrm>
          <a:prstGeom prst="rect">
            <a:avLst/>
          </a:prstGeom>
          <a:noFill/>
        </p:spPr>
        <p:txBody>
          <a:bodyPr wrap="none" rtlCol="0">
            <a:spAutoFit/>
          </a:bodyPr>
          <a:lstStyle/>
          <a:p>
            <a:r>
              <a:rPr lang="en-GB" b="1" dirty="0"/>
              <a:t>Usage:</a:t>
            </a:r>
          </a:p>
        </p:txBody>
      </p:sp>
      <p:sp>
        <p:nvSpPr>
          <p:cNvPr id="23" name="TextBox 22">
            <a:extLst>
              <a:ext uri="{FF2B5EF4-FFF2-40B4-BE49-F238E27FC236}">
                <a16:creationId xmlns:a16="http://schemas.microsoft.com/office/drawing/2014/main" id="{028527E6-9097-398D-29F5-E8B52B2A637B}"/>
              </a:ext>
            </a:extLst>
          </p:cNvPr>
          <p:cNvSpPr txBox="1"/>
          <p:nvPr/>
        </p:nvSpPr>
        <p:spPr>
          <a:xfrm>
            <a:off x="7131302" y="4743955"/>
            <a:ext cx="2598964" cy="369332"/>
          </a:xfrm>
          <a:prstGeom prst="rect">
            <a:avLst/>
          </a:prstGeom>
          <a:noFill/>
        </p:spPr>
        <p:txBody>
          <a:bodyPr wrap="square">
            <a:spAutoFit/>
          </a:bodyPr>
          <a:lstStyle/>
          <a:p>
            <a:r>
              <a:rPr lang="en-GB" b="0" i="0" u="none" strike="noStrike" dirty="0">
                <a:solidFill>
                  <a:srgbClr val="000000"/>
                </a:solidFill>
                <a:effectLst/>
                <a:latin typeface="-webkit-standard"/>
              </a:rPr>
              <a:t>Then use exported rules:</a:t>
            </a:r>
            <a:endParaRPr lang="en-GB" dirty="0"/>
          </a:p>
        </p:txBody>
      </p:sp>
      <p:sp>
        <p:nvSpPr>
          <p:cNvPr id="25" name="TextBox 24">
            <a:extLst>
              <a:ext uri="{FF2B5EF4-FFF2-40B4-BE49-F238E27FC236}">
                <a16:creationId xmlns:a16="http://schemas.microsoft.com/office/drawing/2014/main" id="{91548EA8-0100-AEAA-622C-C65F5DA0E5F8}"/>
              </a:ext>
            </a:extLst>
          </p:cNvPr>
          <p:cNvSpPr txBox="1"/>
          <p:nvPr/>
        </p:nvSpPr>
        <p:spPr>
          <a:xfrm>
            <a:off x="7602412" y="5219978"/>
            <a:ext cx="2794907" cy="369332"/>
          </a:xfrm>
          <a:prstGeom prst="rect">
            <a:avLst/>
          </a:prstGeom>
          <a:noFill/>
        </p:spPr>
        <p:txBody>
          <a:bodyPr wrap="square">
            <a:spAutoFit/>
          </a:bodyPr>
          <a:lstStyle/>
          <a:p>
            <a:r>
              <a:rPr lang="en-GB" dirty="0"/>
              <a:t>use rule * from plot</a:t>
            </a:r>
          </a:p>
        </p:txBody>
      </p:sp>
      <p:cxnSp>
        <p:nvCxnSpPr>
          <p:cNvPr id="28" name="Straight Connector 27">
            <a:extLst>
              <a:ext uri="{FF2B5EF4-FFF2-40B4-BE49-F238E27FC236}">
                <a16:creationId xmlns:a16="http://schemas.microsoft.com/office/drawing/2014/main" id="{698D2AE9-B87E-4B7D-28A8-07111BC10C0F}"/>
              </a:ext>
            </a:extLst>
          </p:cNvPr>
          <p:cNvCxnSpPr/>
          <p:nvPr/>
        </p:nvCxnSpPr>
        <p:spPr>
          <a:xfrm>
            <a:off x="6444342" y="2832164"/>
            <a:ext cx="0" cy="3012262"/>
          </a:xfrm>
          <a:prstGeom prst="line">
            <a:avLst/>
          </a:prstGeom>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96A4EE20-763A-D25D-DC5F-CBD3CB5D5D50}"/>
              </a:ext>
            </a:extLst>
          </p:cNvPr>
          <p:cNvSpPr txBox="1"/>
          <p:nvPr/>
        </p:nvSpPr>
        <p:spPr>
          <a:xfrm>
            <a:off x="7131302" y="6257120"/>
            <a:ext cx="3413598" cy="369332"/>
          </a:xfrm>
          <a:prstGeom prst="rect">
            <a:avLst/>
          </a:prstGeom>
          <a:noFill/>
        </p:spPr>
        <p:txBody>
          <a:bodyPr wrap="square">
            <a:spAutoFit/>
          </a:bodyPr>
          <a:lstStyle/>
          <a:p>
            <a:r>
              <a:rPr lang="en-GB" b="0" i="0" u="none" strike="noStrike" dirty="0">
                <a:solidFill>
                  <a:srgbClr val="000000"/>
                </a:solidFill>
                <a:effectLst/>
                <a:latin typeface="-webkit-standard"/>
              </a:rPr>
              <a:t>use rule </a:t>
            </a:r>
            <a:r>
              <a:rPr lang="en-GB" b="0" i="0" u="none" strike="noStrike" dirty="0" err="1">
                <a:solidFill>
                  <a:srgbClr val="000000"/>
                </a:solidFill>
                <a:effectLst/>
                <a:latin typeface="-webkit-standard"/>
              </a:rPr>
              <a:t>plotHistogram</a:t>
            </a:r>
            <a:r>
              <a:rPr lang="en-GB" b="0" i="0" u="none" strike="noStrike" dirty="0">
                <a:solidFill>
                  <a:srgbClr val="000000"/>
                </a:solidFill>
                <a:effectLst/>
                <a:latin typeface="-webkit-standard"/>
              </a:rPr>
              <a:t> from plot</a:t>
            </a:r>
            <a:endParaRPr lang="en-GB" dirty="0"/>
          </a:p>
        </p:txBody>
      </p:sp>
      <p:pic>
        <p:nvPicPr>
          <p:cNvPr id="19460" name="Picture 4" descr="Pipeline structure based on snakemake modules. Our pipeline is... |  Download Scientific Diagram">
            <a:extLst>
              <a:ext uri="{FF2B5EF4-FFF2-40B4-BE49-F238E27FC236}">
                <a16:creationId xmlns:a16="http://schemas.microsoft.com/office/drawing/2014/main" id="{532F26B0-1E88-82F8-57D7-1E2194051B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9771" y="152057"/>
            <a:ext cx="5053469" cy="2609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214730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6E1A70-1FB0-0986-BB31-D107F659778D}"/>
            </a:ext>
          </a:extLst>
        </p:cNvPr>
        <p:cNvGrpSpPr/>
        <p:nvPr/>
      </p:nvGrpSpPr>
      <p:grpSpPr>
        <a:xfrm>
          <a:off x="0" y="0"/>
          <a:ext cx="0" cy="0"/>
          <a:chOff x="0" y="0"/>
          <a:chExt cx="0" cy="0"/>
        </a:xfrm>
      </p:grpSpPr>
      <p:sp useBgFill="1">
        <p:nvSpPr>
          <p:cNvPr id="21" name="Slide Background">
            <a:extLst>
              <a:ext uri="{FF2B5EF4-FFF2-40B4-BE49-F238E27FC236}">
                <a16:creationId xmlns:a16="http://schemas.microsoft.com/office/drawing/2014/main" id="{5CE8F33C-584F-BDA1-1F38-EE6C56A1B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E55A33-A9C8-9625-A474-81DA5114BEC5}"/>
              </a:ext>
            </a:extLst>
          </p:cNvPr>
          <p:cNvSpPr>
            <a:spLocks noGrp="1"/>
          </p:cNvSpPr>
          <p:nvPr>
            <p:ph type="title"/>
          </p:nvPr>
        </p:nvSpPr>
        <p:spPr>
          <a:xfrm>
            <a:off x="761800" y="762001"/>
            <a:ext cx="6840612" cy="1708242"/>
          </a:xfrm>
        </p:spPr>
        <p:txBody>
          <a:bodyPr vert="horz" lIns="91440" tIns="45720" rIns="91440" bIns="45720" rtlCol="0" anchor="ctr">
            <a:normAutofit fontScale="90000"/>
          </a:bodyPr>
          <a:lstStyle/>
          <a:p>
            <a:r>
              <a:rPr lang="en-GB" b="1" dirty="0"/>
              <a:t>Config files</a:t>
            </a:r>
            <a:br>
              <a:rPr lang="en-GB" b="1" dirty="0"/>
            </a:br>
            <a:br>
              <a:rPr lang="en-GB" b="1" dirty="0"/>
            </a:br>
            <a:endParaRPr lang="en-US" sz="4000" b="1" dirty="0"/>
          </a:p>
        </p:txBody>
      </p:sp>
      <p:sp>
        <p:nvSpPr>
          <p:cNvPr id="27" name="TextBox 26">
            <a:extLst>
              <a:ext uri="{FF2B5EF4-FFF2-40B4-BE49-F238E27FC236}">
                <a16:creationId xmlns:a16="http://schemas.microsoft.com/office/drawing/2014/main" id="{C0B9D854-D92C-EFBA-0A96-FA69C74D9401}"/>
              </a:ext>
            </a:extLst>
          </p:cNvPr>
          <p:cNvSpPr txBox="1"/>
          <p:nvPr/>
        </p:nvSpPr>
        <p:spPr>
          <a:xfrm>
            <a:off x="-3145971" y="-1948543"/>
            <a:ext cx="184731" cy="369332"/>
          </a:xfrm>
          <a:prstGeom prst="rect">
            <a:avLst/>
          </a:prstGeom>
          <a:noFill/>
        </p:spPr>
        <p:txBody>
          <a:bodyPr wrap="none" rtlCol="0">
            <a:spAutoFit/>
          </a:bodyPr>
          <a:lstStyle/>
          <a:p>
            <a:endParaRPr lang="en-GB" dirty="0"/>
          </a:p>
        </p:txBody>
      </p:sp>
      <p:sp>
        <p:nvSpPr>
          <p:cNvPr id="11" name="TextBox 10">
            <a:extLst>
              <a:ext uri="{FF2B5EF4-FFF2-40B4-BE49-F238E27FC236}">
                <a16:creationId xmlns:a16="http://schemas.microsoft.com/office/drawing/2014/main" id="{BDEE9CB8-7057-5B71-0DAE-E27A16B1A185}"/>
              </a:ext>
            </a:extLst>
          </p:cNvPr>
          <p:cNvSpPr txBox="1"/>
          <p:nvPr/>
        </p:nvSpPr>
        <p:spPr>
          <a:xfrm>
            <a:off x="761800" y="1616122"/>
            <a:ext cx="6620499" cy="2308324"/>
          </a:xfrm>
          <a:prstGeom prst="rect">
            <a:avLst/>
          </a:prstGeom>
          <a:noFill/>
        </p:spPr>
        <p:txBody>
          <a:bodyPr wrap="square">
            <a:spAutoFit/>
          </a:bodyPr>
          <a:lstStyle/>
          <a:p>
            <a:r>
              <a:rPr lang="en-GB" dirty="0"/>
              <a:t>In </a:t>
            </a:r>
            <a:r>
              <a:rPr lang="en-GB" dirty="0" err="1"/>
              <a:t>Snakemake</a:t>
            </a:r>
            <a:r>
              <a:rPr lang="en-GB" dirty="0"/>
              <a:t>, config files are used to separate parameters and settings from the workflow logic.</a:t>
            </a:r>
          </a:p>
          <a:p>
            <a:endParaRPr lang="en-GB" dirty="0"/>
          </a:p>
          <a:p>
            <a:pPr algn="just"/>
            <a:r>
              <a:rPr lang="en-GB" dirty="0"/>
              <a:t>Instead of hardcoding values in your </a:t>
            </a:r>
            <a:r>
              <a:rPr lang="en-GB" dirty="0" err="1"/>
              <a:t>Snakefile</a:t>
            </a:r>
            <a:r>
              <a:rPr lang="en-GB" dirty="0"/>
              <a:t> (like sample names, file paths, thresholds), you put them in a YAML or JSON config file.</a:t>
            </a:r>
          </a:p>
          <a:p>
            <a:endParaRPr lang="en-GB" dirty="0"/>
          </a:p>
          <a:p>
            <a:endParaRPr lang="en-GB" dirty="0"/>
          </a:p>
        </p:txBody>
      </p:sp>
      <p:sp>
        <p:nvSpPr>
          <p:cNvPr id="7" name="TextBox 6">
            <a:extLst>
              <a:ext uri="{FF2B5EF4-FFF2-40B4-BE49-F238E27FC236}">
                <a16:creationId xmlns:a16="http://schemas.microsoft.com/office/drawing/2014/main" id="{C176CAE5-B599-7B22-A159-F71126761862}"/>
              </a:ext>
            </a:extLst>
          </p:cNvPr>
          <p:cNvSpPr txBox="1"/>
          <p:nvPr/>
        </p:nvSpPr>
        <p:spPr>
          <a:xfrm>
            <a:off x="883169" y="4351508"/>
            <a:ext cx="2057600" cy="1754326"/>
          </a:xfrm>
          <a:prstGeom prst="rect">
            <a:avLst/>
          </a:prstGeom>
          <a:noFill/>
          <a:ln>
            <a:solidFill>
              <a:schemeClr val="accent6">
                <a:lumMod val="75000"/>
              </a:schemeClr>
            </a:solidFill>
          </a:ln>
        </p:spPr>
        <p:txBody>
          <a:bodyPr wrap="square">
            <a:spAutoFit/>
          </a:bodyPr>
          <a:lstStyle/>
          <a:p>
            <a:r>
              <a:rPr lang="en-GB" dirty="0"/>
              <a:t>samples:</a:t>
            </a:r>
          </a:p>
          <a:p>
            <a:r>
              <a:rPr lang="en-GB" dirty="0"/>
              <a:t>  - file1</a:t>
            </a:r>
          </a:p>
          <a:p>
            <a:r>
              <a:rPr lang="en-GB" dirty="0"/>
              <a:t>  - file2</a:t>
            </a:r>
          </a:p>
          <a:p>
            <a:endParaRPr lang="en-GB" dirty="0"/>
          </a:p>
          <a:p>
            <a:r>
              <a:rPr lang="en-GB" dirty="0"/>
              <a:t>threshold: 0.05</a:t>
            </a:r>
          </a:p>
          <a:p>
            <a:r>
              <a:rPr lang="en-GB" dirty="0" err="1"/>
              <a:t>outdir</a:t>
            </a:r>
            <a:r>
              <a:rPr lang="en-GB" dirty="0"/>
              <a:t>: plot/</a:t>
            </a:r>
          </a:p>
        </p:txBody>
      </p:sp>
      <p:sp>
        <p:nvSpPr>
          <p:cNvPr id="8" name="TextBox 7">
            <a:extLst>
              <a:ext uri="{FF2B5EF4-FFF2-40B4-BE49-F238E27FC236}">
                <a16:creationId xmlns:a16="http://schemas.microsoft.com/office/drawing/2014/main" id="{80B2266D-C1ED-5F2A-0131-6D5B70895AB4}"/>
              </a:ext>
            </a:extLst>
          </p:cNvPr>
          <p:cNvSpPr txBox="1"/>
          <p:nvPr/>
        </p:nvSpPr>
        <p:spPr>
          <a:xfrm>
            <a:off x="817860" y="3978295"/>
            <a:ext cx="1327671" cy="369332"/>
          </a:xfrm>
          <a:prstGeom prst="rect">
            <a:avLst/>
          </a:prstGeom>
          <a:noFill/>
        </p:spPr>
        <p:txBody>
          <a:bodyPr wrap="none" rtlCol="0">
            <a:spAutoFit/>
          </a:bodyPr>
          <a:lstStyle/>
          <a:p>
            <a:r>
              <a:rPr lang="en-GB" dirty="0" err="1"/>
              <a:t>config.yaml</a:t>
            </a:r>
            <a:endParaRPr lang="en-GB" dirty="0"/>
          </a:p>
        </p:txBody>
      </p:sp>
      <p:sp>
        <p:nvSpPr>
          <p:cNvPr id="10" name="TextBox 9">
            <a:extLst>
              <a:ext uri="{FF2B5EF4-FFF2-40B4-BE49-F238E27FC236}">
                <a16:creationId xmlns:a16="http://schemas.microsoft.com/office/drawing/2014/main" id="{6F15D962-777C-DECA-6924-FBF0DAEA7E04}"/>
              </a:ext>
            </a:extLst>
          </p:cNvPr>
          <p:cNvSpPr txBox="1"/>
          <p:nvPr/>
        </p:nvSpPr>
        <p:spPr>
          <a:xfrm>
            <a:off x="3384521" y="4351508"/>
            <a:ext cx="3997778" cy="2031325"/>
          </a:xfrm>
          <a:prstGeom prst="rect">
            <a:avLst/>
          </a:prstGeom>
          <a:noFill/>
          <a:ln>
            <a:solidFill>
              <a:schemeClr val="accent6">
                <a:lumMod val="75000"/>
              </a:schemeClr>
            </a:solidFill>
          </a:ln>
        </p:spPr>
        <p:txBody>
          <a:bodyPr wrap="square">
            <a:spAutoFit/>
          </a:bodyPr>
          <a:lstStyle/>
          <a:p>
            <a:r>
              <a:rPr lang="en-GB" dirty="0" err="1"/>
              <a:t>configfile</a:t>
            </a:r>
            <a:r>
              <a:rPr lang="en-GB" dirty="0"/>
              <a:t>: "</a:t>
            </a:r>
            <a:r>
              <a:rPr lang="en-GB" dirty="0" err="1"/>
              <a:t>config.yaml</a:t>
            </a:r>
            <a:r>
              <a:rPr lang="en-GB" dirty="0"/>
              <a:t>"</a:t>
            </a:r>
          </a:p>
          <a:p>
            <a:endParaRPr lang="en-GB" dirty="0"/>
          </a:p>
          <a:p>
            <a:r>
              <a:rPr lang="en-GB" dirty="0"/>
              <a:t>rule all:</a:t>
            </a:r>
          </a:p>
          <a:p>
            <a:r>
              <a:rPr lang="en-GB" dirty="0"/>
              <a:t>    input:</a:t>
            </a:r>
          </a:p>
          <a:p>
            <a:r>
              <a:rPr lang="en-GB" dirty="0"/>
              <a:t>        expand("{</a:t>
            </a:r>
            <a:r>
              <a:rPr lang="en-GB" dirty="0" err="1"/>
              <a:t>outdir</a:t>
            </a:r>
            <a:r>
              <a:rPr lang="en-GB" dirty="0"/>
              <a:t>}{sample}.</a:t>
            </a:r>
            <a:r>
              <a:rPr lang="en-GB" dirty="0" err="1"/>
              <a:t>png</a:t>
            </a:r>
            <a:r>
              <a:rPr lang="en-GB" dirty="0"/>
              <a:t>",</a:t>
            </a:r>
          </a:p>
          <a:p>
            <a:r>
              <a:rPr lang="en-GB" dirty="0"/>
              <a:t>               sample=config["samples"],</a:t>
            </a:r>
          </a:p>
          <a:p>
            <a:r>
              <a:rPr lang="en-GB" dirty="0"/>
              <a:t>               </a:t>
            </a:r>
            <a:r>
              <a:rPr lang="en-GB" dirty="0" err="1"/>
              <a:t>outdir</a:t>
            </a:r>
            <a:r>
              <a:rPr lang="en-GB" dirty="0"/>
              <a:t>=config["</a:t>
            </a:r>
            <a:r>
              <a:rPr lang="en-GB" dirty="0" err="1"/>
              <a:t>outdir</a:t>
            </a:r>
            <a:r>
              <a:rPr lang="en-GB" dirty="0"/>
              <a:t>"])</a:t>
            </a:r>
          </a:p>
        </p:txBody>
      </p:sp>
      <p:sp>
        <p:nvSpPr>
          <p:cNvPr id="12" name="TextBox 11">
            <a:extLst>
              <a:ext uri="{FF2B5EF4-FFF2-40B4-BE49-F238E27FC236}">
                <a16:creationId xmlns:a16="http://schemas.microsoft.com/office/drawing/2014/main" id="{C032CFEE-3288-4218-663F-A2C35369F251}"/>
              </a:ext>
            </a:extLst>
          </p:cNvPr>
          <p:cNvSpPr txBox="1"/>
          <p:nvPr/>
        </p:nvSpPr>
        <p:spPr>
          <a:xfrm>
            <a:off x="3387084" y="3982176"/>
            <a:ext cx="1097673" cy="369332"/>
          </a:xfrm>
          <a:prstGeom prst="rect">
            <a:avLst/>
          </a:prstGeom>
          <a:noFill/>
        </p:spPr>
        <p:txBody>
          <a:bodyPr wrap="none" rtlCol="0">
            <a:spAutoFit/>
          </a:bodyPr>
          <a:lstStyle/>
          <a:p>
            <a:r>
              <a:rPr lang="en-GB" dirty="0" err="1"/>
              <a:t>Snakefile</a:t>
            </a:r>
            <a:endParaRPr lang="en-GB" dirty="0"/>
          </a:p>
        </p:txBody>
      </p:sp>
      <p:sp>
        <p:nvSpPr>
          <p:cNvPr id="16" name="TextBox 15">
            <a:extLst>
              <a:ext uri="{FF2B5EF4-FFF2-40B4-BE49-F238E27FC236}">
                <a16:creationId xmlns:a16="http://schemas.microsoft.com/office/drawing/2014/main" id="{A528108B-044C-8DD6-7860-162693E63D91}"/>
              </a:ext>
            </a:extLst>
          </p:cNvPr>
          <p:cNvSpPr txBox="1"/>
          <p:nvPr/>
        </p:nvSpPr>
        <p:spPr>
          <a:xfrm>
            <a:off x="8025017" y="3315880"/>
            <a:ext cx="2155372" cy="646331"/>
          </a:xfrm>
          <a:prstGeom prst="rect">
            <a:avLst/>
          </a:prstGeom>
          <a:noFill/>
          <a:ln>
            <a:solidFill>
              <a:schemeClr val="accent6">
                <a:lumMod val="75000"/>
              </a:schemeClr>
            </a:solidFill>
          </a:ln>
        </p:spPr>
        <p:txBody>
          <a:bodyPr wrap="square">
            <a:spAutoFit/>
          </a:bodyPr>
          <a:lstStyle/>
          <a:p>
            <a:r>
              <a:rPr lang="en-GB" dirty="0"/>
              <a:t>config["samples"]</a:t>
            </a:r>
          </a:p>
          <a:p>
            <a:r>
              <a:rPr lang="en-GB" dirty="0"/>
              <a:t>config["</a:t>
            </a:r>
            <a:r>
              <a:rPr lang="en-GB" dirty="0" err="1"/>
              <a:t>outdir</a:t>
            </a:r>
            <a:r>
              <a:rPr lang="en-GB" dirty="0"/>
              <a:t>"]</a:t>
            </a:r>
          </a:p>
        </p:txBody>
      </p:sp>
      <p:sp>
        <p:nvSpPr>
          <p:cNvPr id="22" name="TextBox 21">
            <a:extLst>
              <a:ext uri="{FF2B5EF4-FFF2-40B4-BE49-F238E27FC236}">
                <a16:creationId xmlns:a16="http://schemas.microsoft.com/office/drawing/2014/main" id="{81404E43-6BF9-3FF7-8C8F-956147FB6E84}"/>
              </a:ext>
            </a:extLst>
          </p:cNvPr>
          <p:cNvSpPr txBox="1"/>
          <p:nvPr/>
        </p:nvSpPr>
        <p:spPr>
          <a:xfrm>
            <a:off x="7884495" y="2900381"/>
            <a:ext cx="2692468" cy="369332"/>
          </a:xfrm>
          <a:prstGeom prst="rect">
            <a:avLst/>
          </a:prstGeom>
          <a:noFill/>
        </p:spPr>
        <p:txBody>
          <a:bodyPr wrap="none" rtlCol="0">
            <a:spAutoFit/>
          </a:bodyPr>
          <a:lstStyle/>
          <a:p>
            <a:r>
              <a:rPr lang="en-GB" b="1" dirty="0"/>
              <a:t>Accessing config values</a:t>
            </a:r>
          </a:p>
        </p:txBody>
      </p:sp>
      <p:sp>
        <p:nvSpPr>
          <p:cNvPr id="31" name="TextBox 30">
            <a:extLst>
              <a:ext uri="{FF2B5EF4-FFF2-40B4-BE49-F238E27FC236}">
                <a16:creationId xmlns:a16="http://schemas.microsoft.com/office/drawing/2014/main" id="{67A1D527-3BC2-1CFC-7C94-08B4ACDA0A9B}"/>
              </a:ext>
            </a:extLst>
          </p:cNvPr>
          <p:cNvSpPr txBox="1"/>
          <p:nvPr/>
        </p:nvSpPr>
        <p:spPr>
          <a:xfrm>
            <a:off x="7871841" y="4347627"/>
            <a:ext cx="4107792" cy="290913"/>
          </a:xfrm>
          <a:prstGeom prst="rect">
            <a:avLst/>
          </a:prstGeom>
          <a:noFill/>
        </p:spPr>
        <p:txBody>
          <a:bodyPr wrap="square">
            <a:spAutoFit/>
          </a:bodyPr>
          <a:lstStyle/>
          <a:p>
            <a:pPr>
              <a:lnSpc>
                <a:spcPts val="1350"/>
              </a:lnSpc>
              <a:buNone/>
            </a:pPr>
            <a:r>
              <a:rPr lang="en-GB" b="1" dirty="0">
                <a:effectLst/>
                <a:latin typeface="Aptos" panose="020B0004020202020204" pitchFamily="34" charset="0"/>
              </a:rPr>
              <a:t>Overriding config from command line</a:t>
            </a:r>
          </a:p>
        </p:txBody>
      </p:sp>
      <p:sp>
        <p:nvSpPr>
          <p:cNvPr id="33" name="TextBox 32">
            <a:extLst>
              <a:ext uri="{FF2B5EF4-FFF2-40B4-BE49-F238E27FC236}">
                <a16:creationId xmlns:a16="http://schemas.microsoft.com/office/drawing/2014/main" id="{8AF5C02F-037B-41CD-5152-4DB111B708F1}"/>
              </a:ext>
            </a:extLst>
          </p:cNvPr>
          <p:cNvSpPr txBox="1"/>
          <p:nvPr/>
        </p:nvSpPr>
        <p:spPr>
          <a:xfrm>
            <a:off x="7873322" y="4759768"/>
            <a:ext cx="4158340" cy="369332"/>
          </a:xfrm>
          <a:prstGeom prst="rect">
            <a:avLst/>
          </a:prstGeom>
          <a:noFill/>
        </p:spPr>
        <p:txBody>
          <a:bodyPr wrap="square">
            <a:spAutoFit/>
          </a:bodyPr>
          <a:lstStyle/>
          <a:p>
            <a:r>
              <a:rPr lang="en-GB" dirty="0">
                <a:solidFill>
                  <a:schemeClr val="bg1"/>
                </a:solidFill>
                <a:highlight>
                  <a:srgbClr val="008000"/>
                </a:highlight>
              </a:rPr>
              <a:t>$</a:t>
            </a:r>
            <a:r>
              <a:rPr lang="en-GB" dirty="0" err="1">
                <a:solidFill>
                  <a:schemeClr val="bg1"/>
                </a:solidFill>
                <a:highlight>
                  <a:srgbClr val="008000"/>
                </a:highlight>
              </a:rPr>
              <a:t>snakemake</a:t>
            </a:r>
            <a:r>
              <a:rPr lang="en-GB" dirty="0">
                <a:solidFill>
                  <a:schemeClr val="bg1"/>
                </a:solidFill>
                <a:highlight>
                  <a:srgbClr val="008000"/>
                </a:highlight>
              </a:rPr>
              <a:t> --config </a:t>
            </a:r>
            <a:r>
              <a:rPr lang="en-GB" dirty="0" err="1">
                <a:solidFill>
                  <a:schemeClr val="bg1"/>
                </a:solidFill>
                <a:highlight>
                  <a:srgbClr val="008000"/>
                </a:highlight>
              </a:rPr>
              <a:t>outdir</a:t>
            </a:r>
            <a:r>
              <a:rPr lang="en-GB" dirty="0">
                <a:solidFill>
                  <a:schemeClr val="bg1"/>
                </a:solidFill>
                <a:highlight>
                  <a:srgbClr val="008000"/>
                </a:highlight>
              </a:rPr>
              <a:t>=</a:t>
            </a:r>
            <a:r>
              <a:rPr lang="en-GB" dirty="0" err="1">
                <a:solidFill>
                  <a:schemeClr val="bg1"/>
                </a:solidFill>
                <a:highlight>
                  <a:srgbClr val="008000"/>
                </a:highlight>
              </a:rPr>
              <a:t>new_plots</a:t>
            </a:r>
            <a:endParaRPr lang="en-GB" dirty="0">
              <a:solidFill>
                <a:schemeClr val="bg1"/>
              </a:solidFill>
              <a:highlight>
                <a:srgbClr val="008000"/>
              </a:highlight>
            </a:endParaRPr>
          </a:p>
        </p:txBody>
      </p:sp>
    </p:spTree>
    <p:extLst>
      <p:ext uri="{BB962C8B-B14F-4D97-AF65-F5344CB8AC3E}">
        <p14:creationId xmlns:p14="http://schemas.microsoft.com/office/powerpoint/2010/main" val="94714955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84E135-A4AD-AB13-1C75-401EEDE6CB01}"/>
            </a:ext>
          </a:extLst>
        </p:cNvPr>
        <p:cNvGrpSpPr/>
        <p:nvPr/>
      </p:nvGrpSpPr>
      <p:grpSpPr>
        <a:xfrm>
          <a:off x="0" y="0"/>
          <a:ext cx="0" cy="0"/>
          <a:chOff x="0" y="0"/>
          <a:chExt cx="0" cy="0"/>
        </a:xfrm>
      </p:grpSpPr>
      <p:sp useBgFill="1">
        <p:nvSpPr>
          <p:cNvPr id="21" name="Slide Background">
            <a:extLst>
              <a:ext uri="{FF2B5EF4-FFF2-40B4-BE49-F238E27FC236}">
                <a16:creationId xmlns:a16="http://schemas.microsoft.com/office/drawing/2014/main" id="{0CF137EB-4EC6-BFB9-61C1-31CCE1BBC0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FE7926D3-E7D2-5C8A-414B-1DDC96EA6B57}"/>
              </a:ext>
            </a:extLst>
          </p:cNvPr>
          <p:cNvSpPr txBox="1"/>
          <p:nvPr/>
        </p:nvSpPr>
        <p:spPr>
          <a:xfrm>
            <a:off x="-3145971" y="-1948543"/>
            <a:ext cx="184731" cy="369332"/>
          </a:xfrm>
          <a:prstGeom prst="rect">
            <a:avLst/>
          </a:prstGeom>
          <a:noFill/>
        </p:spPr>
        <p:txBody>
          <a:bodyPr wrap="none" rtlCol="0">
            <a:spAutoFit/>
          </a:bodyPr>
          <a:lstStyle/>
          <a:p>
            <a:endParaRPr lang="en-GB" dirty="0"/>
          </a:p>
        </p:txBody>
      </p:sp>
      <p:sp>
        <p:nvSpPr>
          <p:cNvPr id="4" name="Title 3">
            <a:extLst>
              <a:ext uri="{FF2B5EF4-FFF2-40B4-BE49-F238E27FC236}">
                <a16:creationId xmlns:a16="http://schemas.microsoft.com/office/drawing/2014/main" id="{6465B9AB-C5A3-27CF-B0A3-E79249F2B2B1}"/>
              </a:ext>
            </a:extLst>
          </p:cNvPr>
          <p:cNvSpPr>
            <a:spLocks noGrp="1"/>
          </p:cNvSpPr>
          <p:nvPr>
            <p:ph type="title"/>
          </p:nvPr>
        </p:nvSpPr>
        <p:spPr/>
        <p:txBody>
          <a:bodyPr/>
          <a:lstStyle/>
          <a:p>
            <a:r>
              <a:rPr lang="en-GB" dirty="0"/>
              <a:t>That’s enough to start with the snake way. </a:t>
            </a:r>
          </a:p>
        </p:txBody>
      </p:sp>
      <p:sp>
        <p:nvSpPr>
          <p:cNvPr id="5" name="TextBox 4">
            <a:extLst>
              <a:ext uri="{FF2B5EF4-FFF2-40B4-BE49-F238E27FC236}">
                <a16:creationId xmlns:a16="http://schemas.microsoft.com/office/drawing/2014/main" id="{FA44EB30-906A-A454-FD6B-9210A6B2CD80}"/>
              </a:ext>
            </a:extLst>
          </p:cNvPr>
          <p:cNvSpPr txBox="1"/>
          <p:nvPr/>
        </p:nvSpPr>
        <p:spPr>
          <a:xfrm>
            <a:off x="9231085" y="5569545"/>
            <a:ext cx="2515560" cy="923330"/>
          </a:xfrm>
          <a:prstGeom prst="rect">
            <a:avLst/>
          </a:prstGeom>
          <a:noFill/>
        </p:spPr>
        <p:txBody>
          <a:bodyPr wrap="none" rtlCol="0">
            <a:spAutoFit/>
          </a:bodyPr>
          <a:lstStyle/>
          <a:p>
            <a:r>
              <a:rPr lang="en-GB" sz="5400"/>
              <a:t>Thanks!</a:t>
            </a:r>
            <a:endParaRPr lang="en-GB" sz="5400" dirty="0"/>
          </a:p>
        </p:txBody>
      </p:sp>
      <p:pic>
        <p:nvPicPr>
          <p:cNvPr id="23554" name="Picture 2" descr="Cobra Kai' Sixth and Final Season Teaser Shows Lots of Karate, Kids">
            <a:extLst>
              <a:ext uri="{FF2B5EF4-FFF2-40B4-BE49-F238E27FC236}">
                <a16:creationId xmlns:a16="http://schemas.microsoft.com/office/drawing/2014/main" id="{669AA9F4-175F-ABA3-6C78-4156A389B5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3472" y="1690688"/>
            <a:ext cx="6101782" cy="4067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1646136"/>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1511</TotalTime>
  <Words>2726</Words>
  <Application>Microsoft Macintosh PowerPoint</Application>
  <PresentationFormat>Widescreen</PresentationFormat>
  <Paragraphs>320</Paragraphs>
  <Slides>16</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-webkit-standard</vt:lpstr>
      <vt:lpstr>Aptos</vt:lpstr>
      <vt:lpstr>Aptos Display</vt:lpstr>
      <vt:lpstr>Arial</vt:lpstr>
      <vt:lpstr>ui-sans-serif</vt:lpstr>
      <vt:lpstr>Office Theme</vt:lpstr>
      <vt:lpstr>Snakemake Trainning 2025</vt:lpstr>
      <vt:lpstr>Introducing Snakemake Tool</vt:lpstr>
      <vt:lpstr>Github</vt:lpstr>
      <vt:lpstr>Basics: An example workflow </vt:lpstr>
      <vt:lpstr>Generalizing rules  </vt:lpstr>
      <vt:lpstr>Aggregating Inputs  </vt:lpstr>
      <vt:lpstr>Aggregating Inputs II  </vt:lpstr>
      <vt:lpstr>Aggregating Inputs III  </vt:lpstr>
      <vt:lpstr>Using custom scripts  </vt:lpstr>
      <vt:lpstr>Rules chain  </vt:lpstr>
      <vt:lpstr>Listing outputs  </vt:lpstr>
      <vt:lpstr>Resource management  </vt:lpstr>
      <vt:lpstr>Environment setting with Conda  </vt:lpstr>
      <vt:lpstr>Modularization  </vt:lpstr>
      <vt:lpstr>Config files  </vt:lpstr>
      <vt:lpstr>That’s enough to start with the snake way.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Juan Leite</dc:creator>
  <cp:lastModifiedBy>Juan Leite</cp:lastModifiedBy>
  <cp:revision>32</cp:revision>
  <dcterms:created xsi:type="dcterms:W3CDTF">2026-05-25T11:35:10Z</dcterms:created>
  <dcterms:modified xsi:type="dcterms:W3CDTF">2026-05-26T12:53:34Z</dcterms:modified>
</cp:coreProperties>
</file>